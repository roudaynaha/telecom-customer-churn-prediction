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6256000" cy="9144000"/>
  <p:notesSz cx="9144000" cy="16256000"/>
  <p:embeddedFontLst>
    <p:embeddedFont>
      <p:font typeface="Quattrocento Sans" panose="020B060402020202020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6113" autoAdjust="0"/>
  </p:normalViewPr>
  <p:slideViewPr>
    <p:cSldViewPr snapToGrid="0" snapToObjects="1">
      <p:cViewPr varScale="1">
        <p:scale>
          <a:sx n="38" d="100"/>
          <a:sy n="38" d="100"/>
        </p:scale>
        <p:origin x="34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5C"/>
              </a:solidFill>
              <a:effectLst/>
            </c:spPr>
          </c:dPt>
          <c:dPt>
            <c:idx val="1"/>
            <c:bubble3D val="0"/>
            <c:spPr>
              <a:solidFill>
                <a:srgbClr val="E07A5F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(Fidele)</c:v>
                </c:pt>
                <c:pt idx="1">
                  <c:v>Yes (Churn)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300"/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Nombre de clients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115481872"/>
        <c:axId val="115484048"/>
      </c:barChart>
      <c:catAx>
        <c:axId val="115481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fr-FR"/>
          </a:p>
        </c:txPr>
        <c:crossAx val="115484048"/>
        <c:crosses val="autoZero"/>
        <c:auto val="1"/>
        <c:lblAlgn val="ctr"/>
        <c:lblOffset val="100"/>
        <c:noMultiLvlLbl val="1"/>
      </c:catAx>
      <c:valAx>
        <c:axId val="115484048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115481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Nombre de features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Raw Data</c:v>
                </c:pt>
                <c:pt idx="1">
                  <c:v>After Cleaning</c:v>
                </c:pt>
                <c:pt idx="2">
                  <c:v>After OHE</c:v>
                </c:pt>
                <c:pt idx="3">
                  <c:v>Final X_train</c:v>
                </c:pt>
                <c:pt idx="4">
                  <c:v>Final X_test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20</c:v>
                </c:pt>
                <c:pt idx="2">
                  <c:v>32</c:v>
                </c:pt>
                <c:pt idx="3">
                  <c:v>32</c:v>
                </c:pt>
                <c:pt idx="4">
                  <c:v>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83838656"/>
        <c:axId val="224259664"/>
      </c:barChart>
      <c:catAx>
        <c:axId val="2083838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fr-FR"/>
          </a:p>
        </c:txPr>
        <c:crossAx val="224259664"/>
        <c:crosses val="autoZero"/>
        <c:auto val="1"/>
        <c:lblAlgn val="ctr"/>
        <c:lblOffset val="100"/>
        <c:noMultiLvlLbl val="1"/>
      </c:catAx>
      <c:valAx>
        <c:axId val="2242596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fr-FR"/>
          </a:p>
        </c:txPr>
        <c:crossAx val="2083838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Reg.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0.80800000000000005</c:v>
                </c:pt>
                <c:pt idx="1">
                  <c:v>0.67100000000000004</c:v>
                </c:pt>
                <c:pt idx="2">
                  <c:v>0.54500000000000004</c:v>
                </c:pt>
                <c:pt idx="3">
                  <c:v>0.60199999999999998</c:v>
                </c:pt>
                <c:pt idx="4">
                  <c:v>0.84699999999999998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0.80100000000000005</c:v>
                </c:pt>
                <c:pt idx="1">
                  <c:v>0.66100000000000003</c:v>
                </c:pt>
                <c:pt idx="2">
                  <c:v>0.51100000000000001</c:v>
                </c:pt>
                <c:pt idx="3">
                  <c:v>0.57599999999999996</c:v>
                </c:pt>
                <c:pt idx="4">
                  <c:v>0.84199999999999997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5F0F4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0.79400000000000004</c:v>
                </c:pt>
                <c:pt idx="1">
                  <c:v>0.64200000000000002</c:v>
                </c:pt>
                <c:pt idx="2">
                  <c:v>0.50800000000000001</c:v>
                </c:pt>
                <c:pt idx="3">
                  <c:v>0.56699999999999995</c:v>
                </c:pt>
                <c:pt idx="4">
                  <c:v>0.83699999999999997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24261296"/>
        <c:axId val="224271088"/>
      </c:barChart>
      <c:catAx>
        <c:axId val="2242612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fr-FR"/>
          </a:p>
        </c:txPr>
        <c:crossAx val="224271088"/>
        <c:crosses val="autoZero"/>
        <c:auto val="1"/>
        <c:lblAlgn val="ctr"/>
        <c:lblOffset val="100"/>
        <c:noMultiLvlLbl val="1"/>
      </c:catAx>
      <c:valAx>
        <c:axId val="224271088"/>
        <c:scaling>
          <c:orientation val="minMax"/>
          <c:max val="0.9"/>
          <c:min val="0.4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fr-FR"/>
          </a:p>
        </c:txPr>
        <c:crossAx val="224261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/>
        <a:lstStyle/>
        <a:p>
          <a:pPr>
            <a:defRPr sz="1100"/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Reg.</c:v>
                </c:pt>
              </c:strCache>
            </c:strRef>
          </c:tx>
          <c:spPr>
            <a:ln w="25400" cap="flat">
              <a:solidFill>
                <a:srgbClr val="0F4C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4C5C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0.80800000000000005</c:v>
                </c:pt>
                <c:pt idx="1">
                  <c:v>0.67100000000000004</c:v>
                </c:pt>
                <c:pt idx="2">
                  <c:v>0.54500000000000004</c:v>
                </c:pt>
                <c:pt idx="3">
                  <c:v>0.60199999999999998</c:v>
                </c:pt>
                <c:pt idx="4">
                  <c:v>0.84699999999999998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ln w="25400" cap="flat">
              <a:solidFill>
                <a:srgbClr val="E07A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A5F"/>
              </a:solidFill>
              <a:ln w="9525" cap="flat">
                <a:solidFill>
                  <a:srgbClr val="E07A5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0.80100000000000005</c:v>
                </c:pt>
                <c:pt idx="1">
                  <c:v>0.66100000000000003</c:v>
                </c:pt>
                <c:pt idx="2">
                  <c:v>0.51100000000000001</c:v>
                </c:pt>
                <c:pt idx="3">
                  <c:v>0.57599999999999996</c:v>
                </c:pt>
                <c:pt idx="4">
                  <c:v>0.84199999999999997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ANN</c:v>
                </c:pt>
              </c:strCache>
            </c:strRef>
          </c:tx>
          <c:spPr>
            <a:ln w="25400" cap="flat">
              <a:solidFill>
                <a:srgbClr val="FB8B2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B8B24"/>
              </a:solidFill>
              <a:ln w="9525" cap="flat">
                <a:solidFill>
                  <a:srgbClr val="FB8B2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0.79100000000000004</c:v>
                </c:pt>
                <c:pt idx="1">
                  <c:v>0.63600000000000001</c:v>
                </c:pt>
                <c:pt idx="2">
                  <c:v>0.495</c:v>
                </c:pt>
                <c:pt idx="3">
                  <c:v>0.55600000000000005</c:v>
                </c:pt>
                <c:pt idx="4">
                  <c:v>0.83799999999999997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XGBoost</c:v>
                </c:pt>
              </c:strCache>
            </c:strRef>
          </c:tx>
          <c:spPr>
            <a:ln w="25400" cap="flat">
              <a:solidFill>
                <a:srgbClr val="5F0F4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F0F40"/>
              </a:solidFill>
              <a:ln w="9525" cap="flat">
                <a:solidFill>
                  <a:srgbClr val="5F0F4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0.79400000000000004</c:v>
                </c:pt>
                <c:pt idx="1">
                  <c:v>0.64200000000000002</c:v>
                </c:pt>
                <c:pt idx="2">
                  <c:v>0.50800000000000001</c:v>
                </c:pt>
                <c:pt idx="3">
                  <c:v>0.56699999999999995</c:v>
                </c:pt>
                <c:pt idx="4">
                  <c:v>0.83699999999999997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4272176"/>
        <c:axId val="224269456"/>
      </c:radarChart>
      <c:catAx>
        <c:axId val="2242721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fr-FR"/>
          </a:p>
        </c:txPr>
        <c:crossAx val="224269456"/>
        <c:crosses val="autoZero"/>
        <c:auto val="1"/>
        <c:lblAlgn val="ctr"/>
        <c:lblOffset val="100"/>
        <c:noMultiLvlLbl val="1"/>
      </c:catAx>
      <c:valAx>
        <c:axId val="224269456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fr-FR"/>
          </a:p>
        </c:txPr>
        <c:crossAx val="224272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05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L'objectif est de prédire quels clients risquent de quitter un opérateur télécom afin d'anticiper leur départ et mettre en place des actions de fidélisation.</a:t>
            </a:r>
          </a:p>
          <a:p>
            <a:r>
              <a:rPr lang="fr-FR" dirty="0" smtClean="0"/>
              <a:t>Le projet couvre l'ensemble du cycle de vie d'un projet de data science : exploration des données, prétraitement, modélisation en Machine Learning et </a:t>
            </a:r>
            <a:r>
              <a:rPr lang="fr-FR" dirty="0" err="1" smtClean="0"/>
              <a:t>Deep</a:t>
            </a:r>
            <a:r>
              <a:rPr lang="fr-FR" dirty="0" smtClean="0"/>
              <a:t> Learning, puis comparaison des résultats.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Nous avons utilisé le </a:t>
            </a:r>
            <a:r>
              <a:rPr lang="fr-FR" dirty="0" err="1" smtClean="0"/>
              <a:t>dataset</a:t>
            </a:r>
            <a:r>
              <a:rPr lang="fr-FR" dirty="0" smtClean="0"/>
              <a:t> IBM </a:t>
            </a:r>
            <a:r>
              <a:rPr lang="fr-FR" dirty="0" err="1" smtClean="0"/>
              <a:t>Telco</a:t>
            </a:r>
            <a:r>
              <a:rPr lang="fr-FR" dirty="0" smtClean="0"/>
              <a:t> Customer </a:t>
            </a:r>
            <a:r>
              <a:rPr lang="fr-FR" dirty="0" err="1" smtClean="0"/>
              <a:t>Churn</a:t>
            </a:r>
            <a:r>
              <a:rPr lang="fr-FR" dirty="0" smtClean="0"/>
              <a:t>, qui contient des informations sur 7 043 clients et 21 variables.</a:t>
            </a:r>
          </a:p>
          <a:p>
            <a:r>
              <a:rPr lang="fr-FR" dirty="0" smtClean="0"/>
              <a:t>Ces variables décrivent le profil des clients, leurs abonnements, leurs services, leurs contrats et leurs dépenses.</a:t>
            </a:r>
          </a:p>
          <a:p>
            <a:r>
              <a:rPr lang="fr-FR" dirty="0" smtClean="0"/>
              <a:t>La variable cible est « </a:t>
            </a:r>
            <a:r>
              <a:rPr lang="fr-FR" dirty="0" err="1" smtClean="0"/>
              <a:t>Churn</a:t>
            </a:r>
            <a:r>
              <a:rPr lang="fr-FR" dirty="0" smtClean="0"/>
              <a:t> », qui indique si un client a quitté l'entreprise ou non.</a:t>
            </a:r>
          </a:p>
          <a:p>
            <a:r>
              <a:rPr lang="fr-FR" dirty="0" smtClean="0"/>
              <a:t>Le </a:t>
            </a:r>
            <a:r>
              <a:rPr lang="fr-FR" dirty="0" err="1" smtClean="0"/>
              <a:t>dataset</a:t>
            </a:r>
            <a:r>
              <a:rPr lang="fr-FR" dirty="0" smtClean="0"/>
              <a:t> contient principalement des variables catégorielles, ce qui nécessite un travail important de prétraitement.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L'analyse de la variable cible montre que le </a:t>
            </a:r>
            <a:r>
              <a:rPr lang="fr-FR" dirty="0" err="1" smtClean="0"/>
              <a:t>dataset</a:t>
            </a:r>
            <a:r>
              <a:rPr lang="fr-FR" dirty="0" smtClean="0"/>
              <a:t> est déséquilibré.</a:t>
            </a:r>
          </a:p>
          <a:p>
            <a:r>
              <a:rPr lang="fr-FR" dirty="0" smtClean="0"/>
              <a:t>Environ 73,5 % des clients restent fidèles, contre 26,5 % qui se désabonnent.</a:t>
            </a:r>
          </a:p>
          <a:p>
            <a:r>
              <a:rPr lang="fr-FR" dirty="0" smtClean="0"/>
              <a:t>Cette distribution est importante car elle influence le choix des métriques d'évaluation.</a:t>
            </a:r>
          </a:p>
          <a:p>
            <a:r>
              <a:rPr lang="fr-FR" dirty="0" smtClean="0"/>
              <a:t>Dans ce contexte, l'</a:t>
            </a:r>
            <a:r>
              <a:rPr lang="fr-FR" dirty="0" err="1" smtClean="0"/>
              <a:t>accuracy</a:t>
            </a:r>
            <a:r>
              <a:rPr lang="fr-FR" dirty="0" smtClean="0"/>
              <a:t> seule n'est pas suffisante pour mesurer les performances des modèles.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L'analyse exploratoire nous a permis d'identifier plusieurs facteurs fortement liés au </a:t>
            </a:r>
            <a:r>
              <a:rPr lang="fr-FR" dirty="0" err="1" smtClean="0"/>
              <a:t>churn</a:t>
            </a:r>
            <a:r>
              <a:rPr lang="fr-FR" dirty="0" smtClean="0"/>
              <a:t>.</a:t>
            </a:r>
          </a:p>
          <a:p>
            <a:r>
              <a:rPr lang="fr-FR" dirty="0" smtClean="0"/>
              <a:t>Premièrement, les clients ayant un contrat mensuel présentent le taux de désabonnement le plus élevé.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Deuxièmement, les clients avec une faible ancienneté, notamment moins de 10 mois, quittent plus fréquemment l'entreprise.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Enfin, les clients ayant des charges mensuelles élevées sont davantage susceptibles de se désabonner.</a:t>
            </a:r>
          </a:p>
          <a:p>
            <a:r>
              <a:rPr lang="fr-FR" dirty="0" smtClean="0"/>
              <a:t>Ces observations ont guidé les étapes de </a:t>
            </a:r>
            <a:r>
              <a:rPr lang="fr-FR" dirty="0" err="1" smtClean="0"/>
              <a:t>feature</a:t>
            </a:r>
            <a:r>
              <a:rPr lang="fr-FR" dirty="0" smtClean="0"/>
              <a:t> engineering.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Le prétraitement a commencé par la conversion de la variable </a:t>
            </a:r>
            <a:r>
              <a:rPr lang="fr-FR" dirty="0" err="1" smtClean="0"/>
              <a:t>TotalCharges</a:t>
            </a:r>
            <a:r>
              <a:rPr lang="fr-FR" dirty="0" smtClean="0"/>
              <a:t> au format numérique et le traitement des valeurs manquantes.</a:t>
            </a:r>
          </a:p>
          <a:p>
            <a:r>
              <a:rPr lang="fr-FR" dirty="0" smtClean="0"/>
              <a:t>Nous avons supprimé la variable </a:t>
            </a:r>
            <a:r>
              <a:rPr lang="fr-FR" dirty="0" err="1" smtClean="0"/>
              <a:t>customerID</a:t>
            </a:r>
            <a:r>
              <a:rPr lang="fr-FR" dirty="0" smtClean="0"/>
              <a:t> car elle n'apporte pas d'information prédictive.</a:t>
            </a:r>
          </a:p>
          <a:p>
            <a:r>
              <a:rPr lang="fr-FR" dirty="0" smtClean="0"/>
              <a:t>Les variables catégorielles ont été transformées grâce au One-Hot </a:t>
            </a:r>
            <a:r>
              <a:rPr lang="fr-FR" dirty="0" err="1" smtClean="0"/>
              <a:t>Encoding</a:t>
            </a:r>
            <a:r>
              <a:rPr lang="fr-FR" dirty="0" smtClean="0"/>
              <a:t>.</a:t>
            </a:r>
          </a:p>
          <a:p>
            <a:r>
              <a:rPr lang="fr-FR" dirty="0" smtClean="0"/>
              <a:t>Nous avons également créé trois nouvelles variables : le coût mensuel moyen, un indicateur de client à forte valeur et un indicateur de fidélité basé sur l'ancienneté.</a:t>
            </a:r>
          </a:p>
          <a:p>
            <a:r>
              <a:rPr lang="fr-FR" dirty="0" smtClean="0"/>
              <a:t>Enfin, les données ont été standardisées pour les modèles sensibles à l'échelle des variables.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Nous avons adopté une démarche progressive en comparant plusieurs familles d'algorithmes.</a:t>
            </a:r>
          </a:p>
          <a:p>
            <a:r>
              <a:rPr lang="fr-FR" dirty="0" smtClean="0"/>
              <a:t>La régression logistique a servi de modèle de référence pour sa simplicité et son </a:t>
            </a:r>
            <a:r>
              <a:rPr lang="fr-FR" dirty="0" err="1" smtClean="0"/>
              <a:t>interprétabilité</a:t>
            </a:r>
            <a:r>
              <a:rPr lang="fr-FR" dirty="0" smtClean="0"/>
              <a:t>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Nous avons ensuite testé </a:t>
            </a:r>
            <a:r>
              <a:rPr lang="fr-FR" dirty="0" err="1" smtClean="0"/>
              <a:t>Random</a:t>
            </a:r>
            <a:r>
              <a:rPr lang="fr-FR" dirty="0" smtClean="0"/>
              <a:t> Forest et </a:t>
            </a:r>
            <a:r>
              <a:rPr lang="fr-FR" dirty="0" err="1" smtClean="0"/>
              <a:t>XGBoost</a:t>
            </a:r>
            <a:r>
              <a:rPr lang="fr-FR" dirty="0" smtClean="0"/>
              <a:t> afin de capturer des relations non linéaires plus complexes.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Étant donné le déséquilibre des classes, nous avons privilégié le ROC-AUC, le </a:t>
            </a:r>
            <a:r>
              <a:rPr lang="fr-FR" dirty="0" err="1" smtClean="0"/>
              <a:t>Recall</a:t>
            </a:r>
            <a:r>
              <a:rPr lang="fr-FR" dirty="0" smtClean="0"/>
              <a:t> et le F1-score plutôt que l'</a:t>
            </a:r>
            <a:r>
              <a:rPr lang="fr-FR" dirty="0" err="1" smtClean="0"/>
              <a:t>accuracy</a:t>
            </a:r>
            <a:r>
              <a:rPr lang="fr-FR" dirty="0" smtClean="0"/>
              <a:t>.</a:t>
            </a:r>
          </a:p>
          <a:p>
            <a:r>
              <a:rPr lang="fr-FR" dirty="0" smtClean="0"/>
              <a:t>D'un point de vue métier, le </a:t>
            </a:r>
            <a:r>
              <a:rPr lang="fr-FR" dirty="0" err="1" smtClean="0"/>
              <a:t>Recall</a:t>
            </a:r>
            <a:r>
              <a:rPr lang="fr-FR" dirty="0" smtClean="0"/>
              <a:t> est particulièrement important, car nous souhaitons identifier le maximum de clients susceptibles de partir.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Les performances des modèles sont globalement proches.</a:t>
            </a:r>
          </a:p>
          <a:p>
            <a:r>
              <a:rPr lang="fr-FR" dirty="0" smtClean="0"/>
              <a:t>La régression logistique obtient les meilleurs résultats avec un ROC-AUC de 0,847.</a:t>
            </a:r>
          </a:p>
          <a:p>
            <a:r>
              <a:rPr lang="fr-FR" dirty="0" smtClean="0"/>
              <a:t>Elle présente également le meilleur équilibre entre précision et rappel.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Enfin, nous avons implémenté un réseau de neurones artificiel pour explorer l'approche </a:t>
            </a:r>
            <a:r>
              <a:rPr lang="fr-FR" dirty="0" err="1" smtClean="0"/>
              <a:t>Deep</a:t>
            </a:r>
            <a:r>
              <a:rPr lang="fr-FR" dirty="0" smtClean="0"/>
              <a:t>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F4C5C"/>
            </a:gs>
            <a:gs pos="60000">
              <a:srgbClr val="1A6B7D"/>
            </a:gs>
            <a:gs pos="100000">
              <a:srgbClr val="2A8FA8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5000" y="5080000"/>
            <a:ext cx="3810000" cy="381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954000" y="4445000"/>
            <a:ext cx="3302000" cy="3302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3556000"/>
            <a:ext cx="1524000" cy="0"/>
          </a:xfrm>
          <a:prstGeom prst="straightConnector1">
            <a:avLst/>
          </a:prstGeom>
          <a:noFill/>
          <a:ln w="50800">
            <a:solidFill>
              <a:srgbClr val="E07A5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270000" y="3810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Churn Prediction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4826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EDA, Preprocessing &amp; Modelisation ML/DL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Telco Customer Churn — 7 043 clients × 21 variables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6096000"/>
            <a:ext cx="6350000" cy="0"/>
          </a:xfrm>
          <a:prstGeom prst="straightConnector1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70000" y="6477000"/>
            <a:ext cx="1778000" cy="457200"/>
          </a:xfrm>
          <a:prstGeom prst="roundRect">
            <a:avLst>
              <a:gd name="adj" fmla="val 8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70000" y="64770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/ Pandas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6477000"/>
            <a:ext cx="1270000" cy="457200"/>
          </a:xfrm>
          <a:prstGeom prst="roundRect">
            <a:avLst>
              <a:gd name="adj" fmla="val 8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6477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22800" y="6477000"/>
            <a:ext cx="1397000" cy="457200"/>
          </a:xfrm>
          <a:prstGeom prst="roundRect">
            <a:avLst>
              <a:gd name="adj" fmla="val 8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622800" y="6477000"/>
            <a:ext cx="139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TensorFlow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970000" y="101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FFFFFF">
              <a:alpha val="13333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kern="0" spc="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SOMMAIRE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79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des matieres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22860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302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Exploration des Donnees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810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descriptive du dataset Telco Customer Churn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103188" y="214313"/>
                </a:moveTo>
                <a:lnTo>
                  <a:pt x="103188" y="277813"/>
                </a:lnTo>
                <a:cubicBezTo>
                  <a:pt x="103188" y="291009"/>
                  <a:pt x="113804" y="301625"/>
                  <a:pt x="127000" y="301625"/>
                </a:cubicBezTo>
                <a:cubicBezTo>
                  <a:pt x="140196" y="301625"/>
                  <a:pt x="150813" y="291009"/>
                  <a:pt x="150813" y="277813"/>
                </a:cubicBezTo>
                <a:lnTo>
                  <a:pt x="150813" y="214313"/>
                </a:lnTo>
                <a:cubicBezTo>
                  <a:pt x="150813" y="201116"/>
                  <a:pt x="140196" y="190500"/>
                  <a:pt x="127000" y="190500"/>
                </a:cubicBezTo>
                <a:cubicBezTo>
                  <a:pt x="113804" y="190500"/>
                  <a:pt x="103188" y="201116"/>
                  <a:pt x="103188" y="214313"/>
                </a:cubicBezTo>
                <a:close/>
                <a:moveTo>
                  <a:pt x="182563" y="119063"/>
                </a:moveTo>
                <a:lnTo>
                  <a:pt x="182563" y="277813"/>
                </a:lnTo>
                <a:cubicBezTo>
                  <a:pt x="182563" y="291009"/>
                  <a:pt x="193179" y="301625"/>
                  <a:pt x="206375" y="301625"/>
                </a:cubicBezTo>
                <a:cubicBezTo>
                  <a:pt x="219571" y="301625"/>
                  <a:pt x="230188" y="291009"/>
                  <a:pt x="230188" y="277813"/>
                </a:cubicBezTo>
                <a:lnTo>
                  <a:pt x="230188" y="119063"/>
                </a:lnTo>
                <a:cubicBezTo>
                  <a:pt x="230188" y="105866"/>
                  <a:pt x="219571" y="95250"/>
                  <a:pt x="206375" y="95250"/>
                </a:cubicBezTo>
                <a:cubicBezTo>
                  <a:pt x="193179" y="95250"/>
                  <a:pt x="182563" y="105866"/>
                  <a:pt x="182563" y="119063"/>
                </a:cubicBezTo>
                <a:close/>
                <a:moveTo>
                  <a:pt x="261937" y="182563"/>
                </a:moveTo>
                <a:lnTo>
                  <a:pt x="261937" y="277813"/>
                </a:lnTo>
                <a:cubicBezTo>
                  <a:pt x="261937" y="291009"/>
                  <a:pt x="272554" y="301625"/>
                  <a:pt x="285750" y="301625"/>
                </a:cubicBezTo>
                <a:cubicBezTo>
                  <a:pt x="298946" y="301625"/>
                  <a:pt x="309562" y="291009"/>
                  <a:pt x="309562" y="277813"/>
                </a:cubicBezTo>
                <a:lnTo>
                  <a:pt x="309562" y="182563"/>
                </a:lnTo>
                <a:cubicBezTo>
                  <a:pt x="309562" y="169366"/>
                  <a:pt x="298946" y="158750"/>
                  <a:pt x="285750" y="158750"/>
                </a:cubicBezTo>
                <a:cubicBezTo>
                  <a:pt x="272554" y="158750"/>
                  <a:pt x="261937" y="169366"/>
                  <a:pt x="261937" y="182563"/>
                </a:cubicBezTo>
                <a:close/>
              </a:path>
            </a:pathLst>
          </a:custGeom>
          <a:solidFill>
            <a:srgbClr val="0F4C5C">
              <a:alpha val="9412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45500" y="22860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265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26500" y="3302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 &amp;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26500" y="3810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Nettoyage, encodage, feature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478000" y="2540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412651" y="208855"/>
                </a:moveTo>
                <a:cubicBezTo>
                  <a:pt x="424755" y="205581"/>
                  <a:pt x="437455" y="211336"/>
                  <a:pt x="442912" y="222548"/>
                </a:cubicBezTo>
                <a:lnTo>
                  <a:pt x="461367" y="259854"/>
                </a:lnTo>
                <a:cubicBezTo>
                  <a:pt x="471587" y="261243"/>
                  <a:pt x="481608" y="264021"/>
                  <a:pt x="491034" y="267891"/>
                </a:cubicBezTo>
                <a:lnTo>
                  <a:pt x="525760" y="244773"/>
                </a:lnTo>
                <a:cubicBezTo>
                  <a:pt x="536178" y="237827"/>
                  <a:pt x="549970" y="239216"/>
                  <a:pt x="558800" y="248047"/>
                </a:cubicBezTo>
                <a:lnTo>
                  <a:pt x="577850" y="267097"/>
                </a:lnTo>
                <a:cubicBezTo>
                  <a:pt x="586680" y="275927"/>
                  <a:pt x="588070" y="289818"/>
                  <a:pt x="581124" y="300137"/>
                </a:cubicBezTo>
                <a:lnTo>
                  <a:pt x="558006" y="334764"/>
                </a:lnTo>
                <a:cubicBezTo>
                  <a:pt x="559891" y="339427"/>
                  <a:pt x="561578" y="344289"/>
                  <a:pt x="562967" y="349349"/>
                </a:cubicBezTo>
                <a:cubicBezTo>
                  <a:pt x="564356" y="354409"/>
                  <a:pt x="565249" y="359370"/>
                  <a:pt x="565944" y="364430"/>
                </a:cubicBezTo>
                <a:lnTo>
                  <a:pt x="603349" y="382885"/>
                </a:lnTo>
                <a:cubicBezTo>
                  <a:pt x="614561" y="388441"/>
                  <a:pt x="620316" y="401141"/>
                  <a:pt x="617041" y="413147"/>
                </a:cubicBezTo>
                <a:lnTo>
                  <a:pt x="610096" y="439142"/>
                </a:lnTo>
                <a:cubicBezTo>
                  <a:pt x="606822" y="451148"/>
                  <a:pt x="595610" y="459284"/>
                  <a:pt x="583109" y="458490"/>
                </a:cubicBezTo>
                <a:lnTo>
                  <a:pt x="541437" y="455811"/>
                </a:lnTo>
                <a:cubicBezTo>
                  <a:pt x="535186" y="463848"/>
                  <a:pt x="527943" y="471289"/>
                  <a:pt x="519708" y="477639"/>
                </a:cubicBezTo>
                <a:lnTo>
                  <a:pt x="522387" y="519212"/>
                </a:lnTo>
                <a:cubicBezTo>
                  <a:pt x="523180" y="531713"/>
                  <a:pt x="515045" y="543024"/>
                  <a:pt x="503039" y="546199"/>
                </a:cubicBezTo>
                <a:lnTo>
                  <a:pt x="477044" y="553145"/>
                </a:lnTo>
                <a:cubicBezTo>
                  <a:pt x="464939" y="556419"/>
                  <a:pt x="452338" y="550664"/>
                  <a:pt x="446782" y="539452"/>
                </a:cubicBezTo>
                <a:lnTo>
                  <a:pt x="428327" y="502146"/>
                </a:lnTo>
                <a:cubicBezTo>
                  <a:pt x="418108" y="500757"/>
                  <a:pt x="408087" y="497979"/>
                  <a:pt x="398661" y="494109"/>
                </a:cubicBezTo>
                <a:lnTo>
                  <a:pt x="363934" y="517227"/>
                </a:lnTo>
                <a:cubicBezTo>
                  <a:pt x="353516" y="524173"/>
                  <a:pt x="339725" y="522784"/>
                  <a:pt x="330895" y="513953"/>
                </a:cubicBezTo>
                <a:lnTo>
                  <a:pt x="311845" y="494903"/>
                </a:lnTo>
                <a:cubicBezTo>
                  <a:pt x="303014" y="486073"/>
                  <a:pt x="301625" y="472281"/>
                  <a:pt x="308570" y="461863"/>
                </a:cubicBezTo>
                <a:lnTo>
                  <a:pt x="331688" y="427137"/>
                </a:lnTo>
                <a:cubicBezTo>
                  <a:pt x="329803" y="422473"/>
                  <a:pt x="328116" y="417612"/>
                  <a:pt x="326727" y="412552"/>
                </a:cubicBezTo>
                <a:cubicBezTo>
                  <a:pt x="325338" y="407491"/>
                  <a:pt x="324445" y="402431"/>
                  <a:pt x="323751" y="397470"/>
                </a:cubicBezTo>
                <a:lnTo>
                  <a:pt x="286345" y="379016"/>
                </a:lnTo>
                <a:cubicBezTo>
                  <a:pt x="275134" y="373459"/>
                  <a:pt x="269478" y="360759"/>
                  <a:pt x="272653" y="348754"/>
                </a:cubicBezTo>
                <a:lnTo>
                  <a:pt x="279598" y="322759"/>
                </a:lnTo>
                <a:cubicBezTo>
                  <a:pt x="282873" y="310753"/>
                  <a:pt x="294084" y="302617"/>
                  <a:pt x="306586" y="303411"/>
                </a:cubicBezTo>
                <a:lnTo>
                  <a:pt x="348159" y="306090"/>
                </a:lnTo>
                <a:cubicBezTo>
                  <a:pt x="354409" y="298053"/>
                  <a:pt x="361652" y="290612"/>
                  <a:pt x="369887" y="284262"/>
                </a:cubicBezTo>
                <a:lnTo>
                  <a:pt x="367209" y="242788"/>
                </a:lnTo>
                <a:cubicBezTo>
                  <a:pt x="366415" y="230287"/>
                  <a:pt x="374551" y="218976"/>
                  <a:pt x="386556" y="215801"/>
                </a:cubicBezTo>
                <a:lnTo>
                  <a:pt x="412552" y="208855"/>
                </a:lnTo>
                <a:close/>
                <a:moveTo>
                  <a:pt x="444897" y="337344"/>
                </a:moveTo>
                <a:cubicBezTo>
                  <a:pt x="420802" y="337371"/>
                  <a:pt x="401263" y="356955"/>
                  <a:pt x="401290" y="381050"/>
                </a:cubicBezTo>
                <a:cubicBezTo>
                  <a:pt x="401318" y="405144"/>
                  <a:pt x="420902" y="424684"/>
                  <a:pt x="444996" y="424656"/>
                </a:cubicBezTo>
                <a:cubicBezTo>
                  <a:pt x="469091" y="424629"/>
                  <a:pt x="488630" y="405045"/>
                  <a:pt x="488603" y="380950"/>
                </a:cubicBezTo>
                <a:cubicBezTo>
                  <a:pt x="488575" y="356856"/>
                  <a:pt x="468991" y="337316"/>
                  <a:pt x="444897" y="337344"/>
                </a:cubicBezTo>
                <a:close/>
                <a:moveTo>
                  <a:pt x="223143" y="-45145"/>
                </a:moveTo>
                <a:lnTo>
                  <a:pt x="249138" y="-38199"/>
                </a:lnTo>
                <a:cubicBezTo>
                  <a:pt x="261144" y="-34925"/>
                  <a:pt x="269280" y="-23614"/>
                  <a:pt x="268486" y="-11212"/>
                </a:cubicBezTo>
                <a:lnTo>
                  <a:pt x="265807" y="30262"/>
                </a:lnTo>
                <a:cubicBezTo>
                  <a:pt x="274042" y="36612"/>
                  <a:pt x="281285" y="43954"/>
                  <a:pt x="287536" y="52090"/>
                </a:cubicBezTo>
                <a:lnTo>
                  <a:pt x="329208" y="49411"/>
                </a:lnTo>
                <a:cubicBezTo>
                  <a:pt x="341610" y="48617"/>
                  <a:pt x="352921" y="56753"/>
                  <a:pt x="356195" y="68759"/>
                </a:cubicBezTo>
                <a:lnTo>
                  <a:pt x="363141" y="94754"/>
                </a:lnTo>
                <a:cubicBezTo>
                  <a:pt x="366316" y="106759"/>
                  <a:pt x="360660" y="119459"/>
                  <a:pt x="349448" y="125016"/>
                </a:cubicBezTo>
                <a:lnTo>
                  <a:pt x="312043" y="143470"/>
                </a:lnTo>
                <a:cubicBezTo>
                  <a:pt x="311348" y="148530"/>
                  <a:pt x="310356" y="153591"/>
                  <a:pt x="309066" y="158552"/>
                </a:cubicBezTo>
                <a:cubicBezTo>
                  <a:pt x="307777" y="163512"/>
                  <a:pt x="305991" y="168473"/>
                  <a:pt x="304105" y="173137"/>
                </a:cubicBezTo>
                <a:lnTo>
                  <a:pt x="327223" y="207863"/>
                </a:lnTo>
                <a:cubicBezTo>
                  <a:pt x="334169" y="218281"/>
                  <a:pt x="332780" y="232073"/>
                  <a:pt x="323949" y="240903"/>
                </a:cubicBezTo>
                <a:lnTo>
                  <a:pt x="304899" y="259953"/>
                </a:lnTo>
                <a:cubicBezTo>
                  <a:pt x="296069" y="268784"/>
                  <a:pt x="282277" y="270173"/>
                  <a:pt x="271859" y="263227"/>
                </a:cubicBezTo>
                <a:lnTo>
                  <a:pt x="237133" y="240109"/>
                </a:lnTo>
                <a:cubicBezTo>
                  <a:pt x="227707" y="243979"/>
                  <a:pt x="217686" y="246757"/>
                  <a:pt x="207466" y="248146"/>
                </a:cubicBezTo>
                <a:lnTo>
                  <a:pt x="189012" y="285452"/>
                </a:lnTo>
                <a:cubicBezTo>
                  <a:pt x="183455" y="296664"/>
                  <a:pt x="170755" y="302320"/>
                  <a:pt x="158750" y="299145"/>
                </a:cubicBezTo>
                <a:lnTo>
                  <a:pt x="132755" y="292199"/>
                </a:lnTo>
                <a:cubicBezTo>
                  <a:pt x="120650" y="288925"/>
                  <a:pt x="112613" y="277614"/>
                  <a:pt x="113407" y="265212"/>
                </a:cubicBezTo>
                <a:lnTo>
                  <a:pt x="116086" y="223639"/>
                </a:lnTo>
                <a:cubicBezTo>
                  <a:pt x="107851" y="217289"/>
                  <a:pt x="100608" y="209947"/>
                  <a:pt x="94357" y="201811"/>
                </a:cubicBezTo>
                <a:lnTo>
                  <a:pt x="52685" y="204490"/>
                </a:lnTo>
                <a:cubicBezTo>
                  <a:pt x="40283" y="205284"/>
                  <a:pt x="28972" y="197148"/>
                  <a:pt x="25698" y="185142"/>
                </a:cubicBezTo>
                <a:lnTo>
                  <a:pt x="18752" y="159147"/>
                </a:lnTo>
                <a:cubicBezTo>
                  <a:pt x="15577" y="147141"/>
                  <a:pt x="21233" y="134441"/>
                  <a:pt x="32445" y="128885"/>
                </a:cubicBezTo>
                <a:lnTo>
                  <a:pt x="69850" y="110430"/>
                </a:lnTo>
                <a:cubicBezTo>
                  <a:pt x="70545" y="105370"/>
                  <a:pt x="71537" y="100409"/>
                  <a:pt x="72827" y="95349"/>
                </a:cubicBezTo>
                <a:cubicBezTo>
                  <a:pt x="74216" y="90289"/>
                  <a:pt x="75803" y="85427"/>
                  <a:pt x="77788" y="80764"/>
                </a:cubicBezTo>
                <a:lnTo>
                  <a:pt x="54670" y="46137"/>
                </a:lnTo>
                <a:cubicBezTo>
                  <a:pt x="47724" y="35719"/>
                  <a:pt x="49113" y="21927"/>
                  <a:pt x="57944" y="13097"/>
                </a:cubicBezTo>
                <a:lnTo>
                  <a:pt x="76994" y="-5953"/>
                </a:lnTo>
                <a:cubicBezTo>
                  <a:pt x="85824" y="-14784"/>
                  <a:pt x="99616" y="-16173"/>
                  <a:pt x="110034" y="-9227"/>
                </a:cubicBezTo>
                <a:lnTo>
                  <a:pt x="144760" y="13891"/>
                </a:lnTo>
                <a:cubicBezTo>
                  <a:pt x="154186" y="10021"/>
                  <a:pt x="164207" y="7243"/>
                  <a:pt x="174427" y="5854"/>
                </a:cubicBezTo>
                <a:lnTo>
                  <a:pt x="192881" y="-31452"/>
                </a:lnTo>
                <a:cubicBezTo>
                  <a:pt x="198437" y="-42664"/>
                  <a:pt x="211038" y="-48320"/>
                  <a:pt x="223143" y="-45145"/>
                </a:cubicBezTo>
                <a:close/>
                <a:moveTo>
                  <a:pt x="190897" y="83344"/>
                </a:moveTo>
                <a:cubicBezTo>
                  <a:pt x="166802" y="83344"/>
                  <a:pt x="147241" y="102905"/>
                  <a:pt x="147241" y="127000"/>
                </a:cubicBezTo>
                <a:cubicBezTo>
                  <a:pt x="147241" y="151095"/>
                  <a:pt x="166802" y="170656"/>
                  <a:pt x="190897" y="170656"/>
                </a:cubicBezTo>
                <a:cubicBezTo>
                  <a:pt x="214991" y="170656"/>
                  <a:pt x="234553" y="151095"/>
                  <a:pt x="234553" y="127000"/>
                </a:cubicBezTo>
                <a:cubicBezTo>
                  <a:pt x="234553" y="102905"/>
                  <a:pt x="214991" y="83344"/>
                  <a:pt x="190897" y="83344"/>
                </a:cubicBezTo>
                <a:close/>
              </a:path>
            </a:pathLst>
          </a:custGeom>
          <a:solidFill>
            <a:srgbClr val="0F4C5C">
              <a:alpha val="9412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54610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43000" y="571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6477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Modeles Machine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6985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Regression, Random Forest, XGBoost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4500" y="5715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49250" y="0"/>
                </a:moveTo>
                <a:cubicBezTo>
                  <a:pt x="349250" y="-17562"/>
                  <a:pt x="335062" y="-31750"/>
                  <a:pt x="317500" y="-31750"/>
                </a:cubicBezTo>
                <a:cubicBezTo>
                  <a:pt x="299938" y="-31750"/>
                  <a:pt x="285750" y="-17562"/>
                  <a:pt x="285750" y="0"/>
                </a:cubicBezTo>
                <a:lnTo>
                  <a:pt x="285750" y="63500"/>
                </a:lnTo>
                <a:lnTo>
                  <a:pt x="190500" y="63500"/>
                </a:lnTo>
                <a:cubicBezTo>
                  <a:pt x="137914" y="63500"/>
                  <a:pt x="95250" y="106164"/>
                  <a:pt x="95250" y="158750"/>
                </a:cubicBezTo>
                <a:lnTo>
                  <a:pt x="95250" y="381000"/>
                </a:lnTo>
                <a:cubicBezTo>
                  <a:pt x="95250" y="433586"/>
                  <a:pt x="137914" y="476250"/>
                  <a:pt x="190500" y="476250"/>
                </a:cubicBezTo>
                <a:lnTo>
                  <a:pt x="444500" y="476250"/>
                </a:lnTo>
                <a:cubicBezTo>
                  <a:pt x="497086" y="476250"/>
                  <a:pt x="539750" y="433586"/>
                  <a:pt x="539750" y="381000"/>
                </a:cubicBezTo>
                <a:lnTo>
                  <a:pt x="539750" y="158750"/>
                </a:lnTo>
                <a:cubicBezTo>
                  <a:pt x="539750" y="106164"/>
                  <a:pt x="497086" y="63500"/>
                  <a:pt x="444500" y="63500"/>
                </a:cubicBezTo>
                <a:lnTo>
                  <a:pt x="349250" y="63500"/>
                </a:lnTo>
                <a:lnTo>
                  <a:pt x="349250" y="0"/>
                </a:lnTo>
                <a:close/>
                <a:moveTo>
                  <a:pt x="158750" y="365125"/>
                </a:moveTo>
                <a:cubicBezTo>
                  <a:pt x="158750" y="351929"/>
                  <a:pt x="169366" y="341313"/>
                  <a:pt x="182563" y="341313"/>
                </a:cubicBezTo>
                <a:lnTo>
                  <a:pt x="214313" y="341313"/>
                </a:lnTo>
                <a:cubicBezTo>
                  <a:pt x="227509" y="341313"/>
                  <a:pt x="238125" y="351929"/>
                  <a:pt x="238125" y="365125"/>
                </a:cubicBezTo>
                <a:cubicBezTo>
                  <a:pt x="238125" y="378321"/>
                  <a:pt x="227509" y="388938"/>
                  <a:pt x="214313" y="388938"/>
                </a:cubicBezTo>
                <a:lnTo>
                  <a:pt x="182563" y="388938"/>
                </a:lnTo>
                <a:cubicBezTo>
                  <a:pt x="169366" y="388938"/>
                  <a:pt x="158750" y="378321"/>
                  <a:pt x="158750" y="365125"/>
                </a:cubicBezTo>
                <a:close/>
                <a:moveTo>
                  <a:pt x="277813" y="365125"/>
                </a:moveTo>
                <a:cubicBezTo>
                  <a:pt x="277813" y="351929"/>
                  <a:pt x="288429" y="341313"/>
                  <a:pt x="301625" y="341313"/>
                </a:cubicBezTo>
                <a:lnTo>
                  <a:pt x="333375" y="341313"/>
                </a:lnTo>
                <a:cubicBezTo>
                  <a:pt x="346571" y="341313"/>
                  <a:pt x="357188" y="351929"/>
                  <a:pt x="357188" y="365125"/>
                </a:cubicBezTo>
                <a:cubicBezTo>
                  <a:pt x="357188" y="378321"/>
                  <a:pt x="346571" y="388938"/>
                  <a:pt x="333375" y="388938"/>
                </a:cubicBezTo>
                <a:lnTo>
                  <a:pt x="301625" y="388938"/>
                </a:lnTo>
                <a:cubicBezTo>
                  <a:pt x="288429" y="388938"/>
                  <a:pt x="277813" y="378321"/>
                  <a:pt x="277813" y="365125"/>
                </a:cubicBezTo>
                <a:close/>
                <a:moveTo>
                  <a:pt x="396875" y="365125"/>
                </a:moveTo>
                <a:cubicBezTo>
                  <a:pt x="396875" y="351929"/>
                  <a:pt x="407491" y="341313"/>
                  <a:pt x="420688" y="341313"/>
                </a:cubicBezTo>
                <a:lnTo>
                  <a:pt x="452437" y="341313"/>
                </a:lnTo>
                <a:cubicBezTo>
                  <a:pt x="465634" y="341313"/>
                  <a:pt x="476250" y="351929"/>
                  <a:pt x="476250" y="365125"/>
                </a:cubicBezTo>
                <a:cubicBezTo>
                  <a:pt x="476250" y="378321"/>
                  <a:pt x="465634" y="388938"/>
                  <a:pt x="452437" y="388938"/>
                </a:cubicBezTo>
                <a:lnTo>
                  <a:pt x="420688" y="388938"/>
                </a:lnTo>
                <a:cubicBezTo>
                  <a:pt x="407491" y="388938"/>
                  <a:pt x="396875" y="378321"/>
                  <a:pt x="396875" y="365125"/>
                </a:cubicBezTo>
                <a:close/>
                <a:moveTo>
                  <a:pt x="222250" y="174625"/>
                </a:moveTo>
                <a:cubicBezTo>
                  <a:pt x="248535" y="174625"/>
                  <a:pt x="269875" y="195965"/>
                  <a:pt x="269875" y="222250"/>
                </a:cubicBezTo>
                <a:cubicBezTo>
                  <a:pt x="269875" y="248535"/>
                  <a:pt x="248535" y="269875"/>
                  <a:pt x="222250" y="269875"/>
                </a:cubicBezTo>
                <a:cubicBezTo>
                  <a:pt x="195965" y="269875"/>
                  <a:pt x="174625" y="248535"/>
                  <a:pt x="174625" y="222250"/>
                </a:cubicBezTo>
                <a:cubicBezTo>
                  <a:pt x="174625" y="195965"/>
                  <a:pt x="195965" y="174625"/>
                  <a:pt x="222250" y="174625"/>
                </a:cubicBezTo>
                <a:close/>
                <a:moveTo>
                  <a:pt x="365125" y="222250"/>
                </a:moveTo>
                <a:cubicBezTo>
                  <a:pt x="365125" y="195965"/>
                  <a:pt x="386465" y="174625"/>
                  <a:pt x="412750" y="174625"/>
                </a:cubicBezTo>
                <a:cubicBezTo>
                  <a:pt x="439035" y="174625"/>
                  <a:pt x="460375" y="195965"/>
                  <a:pt x="460375" y="222250"/>
                </a:cubicBezTo>
                <a:cubicBezTo>
                  <a:pt x="460375" y="248535"/>
                  <a:pt x="439035" y="269875"/>
                  <a:pt x="412750" y="269875"/>
                </a:cubicBezTo>
                <a:cubicBezTo>
                  <a:pt x="386465" y="269875"/>
                  <a:pt x="365125" y="248535"/>
                  <a:pt x="365125" y="222250"/>
                </a:cubicBezTo>
                <a:close/>
                <a:moveTo>
                  <a:pt x="63500" y="222250"/>
                </a:moveTo>
                <a:cubicBezTo>
                  <a:pt x="63500" y="204688"/>
                  <a:pt x="49312" y="190500"/>
                  <a:pt x="31750" y="190500"/>
                </a:cubicBezTo>
                <a:cubicBezTo>
                  <a:pt x="14188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4188" y="349250"/>
                  <a:pt x="31750" y="349250"/>
                </a:cubicBezTo>
                <a:cubicBezTo>
                  <a:pt x="49312" y="349250"/>
                  <a:pt x="63500" y="335062"/>
                  <a:pt x="63500" y="317500"/>
                </a:cubicBezTo>
                <a:lnTo>
                  <a:pt x="63500" y="222250"/>
                </a:lnTo>
                <a:close/>
                <a:moveTo>
                  <a:pt x="603250" y="190500"/>
                </a:moveTo>
                <a:cubicBezTo>
                  <a:pt x="585688" y="190500"/>
                  <a:pt x="571500" y="204688"/>
                  <a:pt x="571500" y="222250"/>
                </a:cubicBezTo>
                <a:lnTo>
                  <a:pt x="571500" y="317500"/>
                </a:lnTo>
                <a:cubicBezTo>
                  <a:pt x="571500" y="335062"/>
                  <a:pt x="585688" y="349250"/>
                  <a:pt x="603250" y="349250"/>
                </a:cubicBezTo>
                <a:cubicBezTo>
                  <a:pt x="620812" y="349250"/>
                  <a:pt x="635000" y="335062"/>
                  <a:pt x="635000" y="317500"/>
                </a:cubicBezTo>
                <a:lnTo>
                  <a:pt x="635000" y="222250"/>
                </a:lnTo>
                <a:cubicBezTo>
                  <a:pt x="635000" y="204688"/>
                  <a:pt x="620812" y="190500"/>
                  <a:pt x="603250" y="190500"/>
                </a:cubicBezTo>
                <a:close/>
              </a:path>
            </a:pathLst>
          </a:custGeom>
          <a:solidFill>
            <a:srgbClr val="0F4C5C">
              <a:alpha val="9412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45500" y="54610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826500" y="571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26500" y="6477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&amp; Comparaison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26500" y="6985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Reseau de neurones artificiels (ANN) vs Modeles classiques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4541500" y="571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0F4C5C">
              <a:alpha val="9412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0" y="1270000"/>
            <a:ext cx="6350000" cy="6350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3302000"/>
            <a:ext cx="1016000" cy="76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4699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Exploration des Donnees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 — Analyse descriptive du dataset Telco Customer Churn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393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825500" y="412750"/>
                </a:moveTo>
                <a:cubicBezTo>
                  <a:pt x="825500" y="503833"/>
                  <a:pt x="795933" y="587970"/>
                  <a:pt x="746125" y="656233"/>
                </a:cubicBezTo>
                <a:lnTo>
                  <a:pt x="997347" y="907653"/>
                </a:lnTo>
                <a:cubicBezTo>
                  <a:pt x="1022152" y="932458"/>
                  <a:pt x="1022152" y="972741"/>
                  <a:pt x="997347" y="997545"/>
                </a:cubicBezTo>
                <a:cubicBezTo>
                  <a:pt x="972542" y="1022350"/>
                  <a:pt x="932259" y="1022350"/>
                  <a:pt x="907455" y="997545"/>
                </a:cubicBezTo>
                <a:lnTo>
                  <a:pt x="656233" y="746125"/>
                </a:lnTo>
                <a:cubicBezTo>
                  <a:pt x="587970" y="795933"/>
                  <a:pt x="503833" y="825500"/>
                  <a:pt x="412750" y="825500"/>
                </a:cubicBezTo>
                <a:cubicBezTo>
                  <a:pt x="184745" y="825500"/>
                  <a:pt x="0" y="640755"/>
                  <a:pt x="0" y="412750"/>
                </a:cubicBezTo>
                <a:cubicBezTo>
                  <a:pt x="0" y="184745"/>
                  <a:pt x="184745" y="0"/>
                  <a:pt x="412750" y="0"/>
                </a:cubicBezTo>
                <a:cubicBezTo>
                  <a:pt x="640755" y="0"/>
                  <a:pt x="825500" y="184745"/>
                  <a:pt x="825500" y="412750"/>
                </a:cubicBezTo>
                <a:close/>
                <a:moveTo>
                  <a:pt x="206375" y="428625"/>
                </a:moveTo>
                <a:lnTo>
                  <a:pt x="206375" y="555625"/>
                </a:lnTo>
                <a:cubicBezTo>
                  <a:pt x="206375" y="582017"/>
                  <a:pt x="227608" y="603250"/>
                  <a:pt x="254000" y="603250"/>
                </a:cubicBezTo>
                <a:cubicBezTo>
                  <a:pt x="280392" y="603250"/>
                  <a:pt x="301625" y="582017"/>
                  <a:pt x="301625" y="555625"/>
                </a:cubicBezTo>
                <a:lnTo>
                  <a:pt x="301625" y="428625"/>
                </a:lnTo>
                <a:cubicBezTo>
                  <a:pt x="301625" y="402233"/>
                  <a:pt x="280392" y="381000"/>
                  <a:pt x="254000" y="381000"/>
                </a:cubicBezTo>
                <a:cubicBezTo>
                  <a:pt x="227608" y="381000"/>
                  <a:pt x="206375" y="402233"/>
                  <a:pt x="206375" y="428625"/>
                </a:cubicBezTo>
                <a:close/>
                <a:moveTo>
                  <a:pt x="365125" y="238125"/>
                </a:moveTo>
                <a:lnTo>
                  <a:pt x="365125" y="555625"/>
                </a:lnTo>
                <a:cubicBezTo>
                  <a:pt x="365125" y="582017"/>
                  <a:pt x="386358" y="603250"/>
                  <a:pt x="412750" y="603250"/>
                </a:cubicBezTo>
                <a:cubicBezTo>
                  <a:pt x="439142" y="603250"/>
                  <a:pt x="460375" y="582017"/>
                  <a:pt x="460375" y="555625"/>
                </a:cubicBezTo>
                <a:lnTo>
                  <a:pt x="460375" y="238125"/>
                </a:lnTo>
                <a:cubicBezTo>
                  <a:pt x="460375" y="211733"/>
                  <a:pt x="439142" y="190500"/>
                  <a:pt x="412750" y="190500"/>
                </a:cubicBezTo>
                <a:cubicBezTo>
                  <a:pt x="386358" y="190500"/>
                  <a:pt x="365125" y="211733"/>
                  <a:pt x="365125" y="238125"/>
                </a:cubicBezTo>
                <a:close/>
                <a:moveTo>
                  <a:pt x="523875" y="365125"/>
                </a:moveTo>
                <a:lnTo>
                  <a:pt x="523875" y="555625"/>
                </a:lnTo>
                <a:cubicBezTo>
                  <a:pt x="523875" y="582017"/>
                  <a:pt x="545108" y="603250"/>
                  <a:pt x="571500" y="603250"/>
                </a:cubicBezTo>
                <a:cubicBezTo>
                  <a:pt x="597892" y="603250"/>
                  <a:pt x="619125" y="582017"/>
                  <a:pt x="619125" y="555625"/>
                </a:cubicBezTo>
                <a:lnTo>
                  <a:pt x="619125" y="365125"/>
                </a:lnTo>
                <a:cubicBezTo>
                  <a:pt x="619125" y="338733"/>
                  <a:pt x="597892" y="317500"/>
                  <a:pt x="571500" y="317500"/>
                </a:cubicBezTo>
                <a:cubicBezTo>
                  <a:pt x="545108" y="317500"/>
                  <a:pt x="523875" y="338733"/>
                  <a:pt x="523875" y="365125"/>
                </a:cubicBezTo>
                <a:close/>
              </a:path>
            </a:pathLst>
          </a:custGeom>
          <a:solidFill>
            <a:srgbClr val="FFFFFF">
              <a:alpha val="8235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Apercu du Dataset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71550" y="1460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1397000"/>
            <a:ext cx="241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7 043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19304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5000" y="12700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1225" y="1460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66675"/>
                </a:move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66675"/>
                </a:lnTo>
                <a:close/>
                <a:moveTo>
                  <a:pt x="44450" y="111125"/>
                </a:moveTo>
                <a:lnTo>
                  <a:pt x="44450" y="288925"/>
                </a:lnTo>
                <a:lnTo>
                  <a:pt x="133350" y="288925"/>
                </a:lnTo>
                <a:lnTo>
                  <a:pt x="133350" y="111125"/>
                </a:lnTo>
                <a:lnTo>
                  <a:pt x="44450" y="111125"/>
                </a:lnTo>
                <a:close/>
                <a:moveTo>
                  <a:pt x="266700" y="111125"/>
                </a:moveTo>
                <a:lnTo>
                  <a:pt x="177800" y="111125"/>
                </a:lnTo>
                <a:lnTo>
                  <a:pt x="177800" y="288925"/>
                </a:lnTo>
                <a:lnTo>
                  <a:pt x="266700" y="2889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207000" y="1397000"/>
            <a:ext cx="241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07000" y="19304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Colonnes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12700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2000" y="146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9116" y="486"/>
                </a:moveTo>
                <a:cubicBezTo>
                  <a:pt x="161131" y="3056"/>
                  <a:pt x="168771" y="14863"/>
                  <a:pt x="166201" y="26878"/>
                </a:cubicBezTo>
                <a:lnTo>
                  <a:pt x="152936" y="88900"/>
                </a:lnTo>
                <a:lnTo>
                  <a:pt x="240794" y="88900"/>
                </a:lnTo>
                <a:lnTo>
                  <a:pt x="256074" y="17572"/>
                </a:lnTo>
                <a:cubicBezTo>
                  <a:pt x="258643" y="5556"/>
                  <a:pt x="270450" y="-2084"/>
                  <a:pt x="282466" y="486"/>
                </a:cubicBezTo>
                <a:cubicBezTo>
                  <a:pt x="294481" y="3056"/>
                  <a:pt x="302121" y="14863"/>
                  <a:pt x="299551" y="26878"/>
                </a:cubicBezTo>
                <a:lnTo>
                  <a:pt x="286286" y="88900"/>
                </a:lnTo>
                <a:lnTo>
                  <a:pt x="333375" y="88900"/>
                </a:lnTo>
                <a:cubicBezTo>
                  <a:pt x="345668" y="88900"/>
                  <a:pt x="355600" y="98832"/>
                  <a:pt x="355600" y="111125"/>
                </a:cubicBezTo>
                <a:cubicBezTo>
                  <a:pt x="355600" y="123418"/>
                  <a:pt x="345668" y="133350"/>
                  <a:pt x="333375" y="133350"/>
                </a:cubicBezTo>
                <a:lnTo>
                  <a:pt x="276701" y="133350"/>
                </a:lnTo>
                <a:lnTo>
                  <a:pt x="257671" y="222250"/>
                </a:lnTo>
                <a:lnTo>
                  <a:pt x="304760" y="222250"/>
                </a:lnTo>
                <a:cubicBezTo>
                  <a:pt x="317054" y="222250"/>
                  <a:pt x="326985" y="232182"/>
                  <a:pt x="326985" y="244475"/>
                </a:cubicBezTo>
                <a:cubicBezTo>
                  <a:pt x="326985" y="256768"/>
                  <a:pt x="317054" y="266700"/>
                  <a:pt x="304760" y="266700"/>
                </a:cubicBezTo>
                <a:lnTo>
                  <a:pt x="248087" y="266700"/>
                </a:lnTo>
                <a:lnTo>
                  <a:pt x="232807" y="338028"/>
                </a:lnTo>
                <a:cubicBezTo>
                  <a:pt x="230237" y="350044"/>
                  <a:pt x="218430" y="357684"/>
                  <a:pt x="206415" y="355114"/>
                </a:cubicBezTo>
                <a:cubicBezTo>
                  <a:pt x="194399" y="352544"/>
                  <a:pt x="186759" y="340737"/>
                  <a:pt x="189329" y="328722"/>
                </a:cubicBezTo>
                <a:lnTo>
                  <a:pt x="202595" y="266700"/>
                </a:lnTo>
                <a:lnTo>
                  <a:pt x="114737" y="266700"/>
                </a:lnTo>
                <a:lnTo>
                  <a:pt x="99457" y="338028"/>
                </a:lnTo>
                <a:cubicBezTo>
                  <a:pt x="96887" y="350044"/>
                  <a:pt x="85080" y="357684"/>
                  <a:pt x="73065" y="355114"/>
                </a:cubicBezTo>
                <a:cubicBezTo>
                  <a:pt x="61049" y="352544"/>
                  <a:pt x="53409" y="340737"/>
                  <a:pt x="55979" y="328722"/>
                </a:cubicBezTo>
                <a:lnTo>
                  <a:pt x="69314" y="266700"/>
                </a:lnTo>
                <a:lnTo>
                  <a:pt x="22225" y="266700"/>
                </a:lnTo>
                <a:cubicBezTo>
                  <a:pt x="9932" y="266700"/>
                  <a:pt x="0" y="256768"/>
                  <a:pt x="0" y="244475"/>
                </a:cubicBezTo>
                <a:cubicBezTo>
                  <a:pt x="0" y="232182"/>
                  <a:pt x="9932" y="222250"/>
                  <a:pt x="22225" y="222250"/>
                </a:cubicBezTo>
                <a:lnTo>
                  <a:pt x="78899" y="222250"/>
                </a:lnTo>
                <a:lnTo>
                  <a:pt x="97929" y="133350"/>
                </a:lnTo>
                <a:lnTo>
                  <a:pt x="50840" y="133350"/>
                </a:lnTo>
                <a:cubicBezTo>
                  <a:pt x="38546" y="133350"/>
                  <a:pt x="28615" y="123418"/>
                  <a:pt x="28615" y="111125"/>
                </a:cubicBezTo>
                <a:cubicBezTo>
                  <a:pt x="28615" y="98832"/>
                  <a:pt x="38546" y="88900"/>
                  <a:pt x="50840" y="88900"/>
                </a:cubicBezTo>
                <a:lnTo>
                  <a:pt x="107513" y="88900"/>
                </a:lnTo>
                <a:lnTo>
                  <a:pt x="122793" y="17572"/>
                </a:lnTo>
                <a:cubicBezTo>
                  <a:pt x="125293" y="5556"/>
                  <a:pt x="137100" y="-2084"/>
                  <a:pt x="149116" y="486"/>
                </a:cubicBezTo>
                <a:close/>
                <a:moveTo>
                  <a:pt x="143351" y="133350"/>
                </a:moveTo>
                <a:lnTo>
                  <a:pt x="124321" y="222250"/>
                </a:lnTo>
                <a:lnTo>
                  <a:pt x="212179" y="222250"/>
                </a:lnTo>
                <a:lnTo>
                  <a:pt x="231209" y="133350"/>
                </a:lnTo>
                <a:lnTo>
                  <a:pt x="143351" y="13335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0" y="1397000"/>
            <a:ext cx="241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90000" y="19304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numeriques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811000" y="1270000"/>
            <a:ext cx="3683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042775" y="1460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78646" y="27156"/>
                </a:moveTo>
                <a:lnTo>
                  <a:pt x="381575" y="131544"/>
                </a:lnTo>
                <a:cubicBezTo>
                  <a:pt x="400814" y="151061"/>
                  <a:pt x="400814" y="182314"/>
                  <a:pt x="381575" y="201831"/>
                </a:cubicBezTo>
                <a:lnTo>
                  <a:pt x="272951" y="311775"/>
                </a:lnTo>
                <a:cubicBezTo>
                  <a:pt x="266492" y="318304"/>
                  <a:pt x="255935" y="318373"/>
                  <a:pt x="249406" y="311914"/>
                </a:cubicBezTo>
                <a:cubicBezTo>
                  <a:pt x="242878" y="305455"/>
                  <a:pt x="242808" y="294898"/>
                  <a:pt x="249267" y="288369"/>
                </a:cubicBezTo>
                <a:lnTo>
                  <a:pt x="357892" y="178356"/>
                </a:lnTo>
                <a:cubicBezTo>
                  <a:pt x="364282" y="171896"/>
                  <a:pt x="364282" y="161409"/>
                  <a:pt x="357892" y="154950"/>
                </a:cubicBezTo>
                <a:lnTo>
                  <a:pt x="254893" y="50631"/>
                </a:lnTo>
                <a:cubicBezTo>
                  <a:pt x="248434" y="44103"/>
                  <a:pt x="248503" y="33546"/>
                  <a:pt x="255032" y="27087"/>
                </a:cubicBezTo>
                <a:cubicBezTo>
                  <a:pt x="261560" y="20628"/>
                  <a:pt x="272117" y="20697"/>
                  <a:pt x="278576" y="27226"/>
                </a:cubicBezTo>
                <a:close/>
                <a:moveTo>
                  <a:pt x="22294" y="159395"/>
                </a:moveTo>
                <a:lnTo>
                  <a:pt x="22294" y="66675"/>
                </a:lnTo>
                <a:cubicBezTo>
                  <a:pt x="22294" y="42158"/>
                  <a:pt x="42228" y="22225"/>
                  <a:pt x="66744" y="22225"/>
                </a:cubicBezTo>
                <a:lnTo>
                  <a:pt x="159464" y="22225"/>
                </a:lnTo>
                <a:cubicBezTo>
                  <a:pt x="171271" y="22225"/>
                  <a:pt x="182592" y="26878"/>
                  <a:pt x="190927" y="35213"/>
                </a:cubicBezTo>
                <a:lnTo>
                  <a:pt x="290939" y="135225"/>
                </a:lnTo>
                <a:cubicBezTo>
                  <a:pt x="308302" y="152589"/>
                  <a:pt x="308302" y="180717"/>
                  <a:pt x="290939" y="198080"/>
                </a:cubicBezTo>
                <a:lnTo>
                  <a:pt x="198219" y="290800"/>
                </a:lnTo>
                <a:cubicBezTo>
                  <a:pt x="180856" y="308164"/>
                  <a:pt x="152727" y="308164"/>
                  <a:pt x="135364" y="290800"/>
                </a:cubicBezTo>
                <a:lnTo>
                  <a:pt x="35352" y="190788"/>
                </a:lnTo>
                <a:cubicBezTo>
                  <a:pt x="27017" y="182453"/>
                  <a:pt x="22364" y="171133"/>
                  <a:pt x="22364" y="159325"/>
                </a:cubicBezTo>
                <a:close/>
                <a:moveTo>
                  <a:pt x="122307" y="100013"/>
                </a:moveTo>
                <a:cubicBezTo>
                  <a:pt x="122307" y="87746"/>
                  <a:pt x="112348" y="77788"/>
                  <a:pt x="100082" y="77788"/>
                </a:cubicBezTo>
                <a:cubicBezTo>
                  <a:pt x="87816" y="77788"/>
                  <a:pt x="77857" y="87746"/>
                  <a:pt x="77857" y="100013"/>
                </a:cubicBezTo>
                <a:cubicBezTo>
                  <a:pt x="77857" y="112279"/>
                  <a:pt x="87816" y="122238"/>
                  <a:pt x="100082" y="122238"/>
                </a:cubicBezTo>
                <a:cubicBezTo>
                  <a:pt x="112348" y="122238"/>
                  <a:pt x="122307" y="112279"/>
                  <a:pt x="122307" y="10001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73000" y="1397000"/>
            <a:ext cx="266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573000" y="1930400"/>
            <a:ext cx="266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categorielles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667000"/>
          <a:ext cx="7366000" cy="3556000"/>
        </p:xfrm>
        <a:graphic>
          <a:graphicData uri="http://schemas.openxmlformats.org/drawingml/2006/table">
            <a:tbl>
              <a:tblPr/>
              <a:tblGrid>
                <a:gridCol w="2578100"/>
                <a:gridCol w="1620520"/>
                <a:gridCol w="1620520"/>
                <a:gridCol w="154686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SeniorCitizen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tenure (mois)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32.37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MonthlyCharges ($)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64.76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18.25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118.75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TotalCharges ($)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2 283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18.8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8 684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8382000" y="26670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699500" y="2857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de variables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99500" y="3302000"/>
            <a:ext cx="647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Numeriques :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tenure, MonthlyCharges, TotalCharges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Binaires :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gender, Partner, Dependents, PhoneService, PaperlessBilling, Churn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Multiclasses :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InternetService, Contract, PaymentMethod, MultipleLines, OnlineSecurity, OnlineBackup, DeviceProtection, TechSupport, StreamingTV, StreamingMovies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Memoire : 1.1+ MB | Aucune valeur manquante detectee initialement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Distribution de la Variable Cible</a:t>
            </a:r>
            <a:endParaRPr lang="en-US" sz="2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62000" y="1333500"/>
          <a:ext cx="6096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239000" y="1333500"/>
            <a:ext cx="3937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3000" y="14605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5 174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93000" y="21336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Clients fideles (73.5%)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430000" y="1333500"/>
            <a:ext cx="4064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1684000" y="1460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1 869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684000" y="2133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Clients churnes (26.5%)</a:t>
            </a:r>
            <a:endParaRPr lang="en-US" sz="1600" dirty="0"/>
          </a:p>
        </p:txBody>
      </p:sp>
      <p:pic>
        <p:nvPicPr>
          <p:cNvPr id="16" name="Image 0" descr="https://kimi-img.moonshot.cn/pub/slides/okc/aq4rucumwnxo4/mnt/agents/output/pdf2_pages/page_3.png"/>
          <p:cNvPicPr>
            <a:picLocks noChangeAspect="1"/>
          </p:cNvPicPr>
          <p:nvPr/>
        </p:nvPicPr>
        <p:blipFill>
          <a:blip r:embed="rId4"/>
          <a:srcRect l="5000" t="2000" r="5000" b="35000"/>
          <a:stretch/>
        </p:blipFill>
        <p:spPr>
          <a:xfrm>
            <a:off x="7239000" y="2984500"/>
            <a:ext cx="8255000" cy="3429000"/>
          </a:xfrm>
          <a:prstGeom prst="roundRect">
            <a:avLst>
              <a:gd name="adj" fmla="val 6000"/>
            </a:avLst>
          </a:prstGeom>
        </p:spPr>
      </p:pic>
      <p:sp>
        <p:nvSpPr>
          <p:cNvPr id="17" name="Text 13"/>
          <p:cNvSpPr/>
          <p:nvPr/>
        </p:nvSpPr>
        <p:spPr>
          <a:xfrm>
            <a:off x="7239000" y="6502400"/>
            <a:ext cx="825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Heatmap des valeurs manquantes — Aucune valeur manquante detectee initialement</a:t>
            </a:r>
            <a:endParaRPr lang="en-US" sz="160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762000" y="6731000"/>
          <a:ext cx="6096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Text 14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Analyse des Variables Numeriques</a:t>
            </a:r>
            <a:endParaRPr lang="en-US" sz="2800" dirty="0"/>
          </a:p>
        </p:txBody>
      </p:sp>
      <p:pic>
        <p:nvPicPr>
          <p:cNvPr id="9" name="Image 0" descr="https://kimi-img.moonshot.cn/pub/slides/okc/aq4rucumwnxo4/mnt/agents/output/pdf2_pages/page_4.png"/>
          <p:cNvPicPr>
            <a:picLocks noChangeAspect="1"/>
          </p:cNvPicPr>
          <p:nvPr/>
        </p:nvPicPr>
        <p:blipFill>
          <a:blip r:embed="rId3"/>
          <a:srcRect l="5000" t="8000" r="5000" b="15000"/>
          <a:stretch/>
        </p:blipFill>
        <p:spPr>
          <a:xfrm>
            <a:off x="762000" y="1270000"/>
            <a:ext cx="9525000" cy="6858000"/>
          </a:xfrm>
          <a:prstGeom prst="roundRect">
            <a:avLst>
              <a:gd name="adj" fmla="val 400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10541000" y="1270000"/>
            <a:ext cx="4953000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858500" y="1460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Statistiques descriptives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858500" y="1879600"/>
            <a:ext cx="4318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10858500" y="2032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Tenure (mois)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858500" y="23876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Moyenne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32.4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Mediane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29.0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Max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bimodale : pics a 0 et 70 mois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858500" y="3683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MonthlyCharges ($)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858500" y="40386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Moyenne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64.8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Mediane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70.4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18.25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Max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118.75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multimodale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858500" y="5334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TotalCharges ($)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858500" y="56896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Moyenne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2 283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Mediane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1 397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18.8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Max : 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8 684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fortement asymetrique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858500" y="7048500"/>
            <a:ext cx="4318000" cy="762000"/>
          </a:xfrm>
          <a:prstGeom prst="roundRect">
            <a:avLst>
              <a:gd name="adj" fmla="val 6000"/>
            </a:avLst>
          </a:prstGeom>
          <a:solidFill>
            <a:srgbClr val="0F4C5C">
              <a:alpha val="5098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1049000" y="7137400"/>
            <a:ext cx="393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 :</a:t>
            </a:r>
            <a:r>
              <a:rPr lang="en-US" sz="12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 distributions revelent des comportements distincts selon l'anciennete et les charges.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Churn par Contrat &amp; Anciennete</a:t>
            </a:r>
            <a:endParaRPr lang="en-US" sz="2800" dirty="0"/>
          </a:p>
        </p:txBody>
      </p:sp>
      <p:pic>
        <p:nvPicPr>
          <p:cNvPr id="9" name="Image 0" descr="https://kimi-img.moonshot.cn/pub/slides/okc/aq4rucumwnxo4/mnt/agents/output/pdf2_pages/page_5.png"/>
          <p:cNvPicPr>
            <a:picLocks noChangeAspect="1"/>
          </p:cNvPicPr>
          <p:nvPr/>
        </p:nvPicPr>
        <p:blipFill>
          <a:blip r:embed="rId3"/>
          <a:srcRect l="5000" t="2000" r="5000" b="55000"/>
          <a:stretch/>
        </p:blipFill>
        <p:spPr>
          <a:xfrm>
            <a:off x="762000" y="1270000"/>
            <a:ext cx="7366000" cy="3937000"/>
          </a:xfrm>
          <a:prstGeom prst="roundRect">
            <a:avLst>
              <a:gd name="adj" fmla="val 4000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762000" y="5270500"/>
            <a:ext cx="736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selon le type de contrat</a:t>
            </a:r>
            <a:endParaRPr lang="en-US" sz="1600" dirty="0"/>
          </a:p>
        </p:txBody>
      </p:sp>
      <p:pic>
        <p:nvPicPr>
          <p:cNvPr id="11" name="Image 1" descr="https://kimi-img.moonshot.cn/pub/slides/okc/aq4rucumwnxo4/mnt/agents/output/pdf2_pages/page_5.png"/>
          <p:cNvPicPr>
            <a:picLocks noChangeAspect="1"/>
          </p:cNvPicPr>
          <p:nvPr/>
        </p:nvPicPr>
        <p:blipFill>
          <a:blip r:embed="rId3"/>
          <a:srcRect l="5000" t="50000" r="5000" b="2000"/>
          <a:stretch/>
        </p:blipFill>
        <p:spPr>
          <a:xfrm>
            <a:off x="8382000" y="1270000"/>
            <a:ext cx="7112000" cy="3937000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Text 8"/>
          <p:cNvSpPr/>
          <p:nvPr/>
        </p:nvSpPr>
        <p:spPr>
          <a:xfrm>
            <a:off x="8382000" y="5270500"/>
            <a:ext cx="711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selon l'anciennete (tenure)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62000" y="5715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38225" y="596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0"/>
                </a:moveTo>
                <a:cubicBezTo>
                  <a:pt x="101193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200025" y="44450"/>
                </a:lnTo>
                <a:lnTo>
                  <a:pt x="200025" y="22225"/>
                </a:lnTo>
                <a:cubicBezTo>
                  <a:pt x="200025" y="9932"/>
                  <a:pt x="209957" y="0"/>
                  <a:pt x="222250" y="0"/>
                </a:cubicBezTo>
                <a:cubicBezTo>
                  <a:pt x="234543" y="0"/>
                  <a:pt x="244475" y="9932"/>
                  <a:pt x="244475" y="22225"/>
                </a:cubicBezTo>
                <a:lnTo>
                  <a:pt x="244475" y="44450"/>
                </a:lnTo>
                <a:lnTo>
                  <a:pt x="266700" y="44450"/>
                </a:lnTo>
                <a:cubicBezTo>
                  <a:pt x="291217" y="44450"/>
                  <a:pt x="311150" y="64383"/>
                  <a:pt x="311150" y="889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88900"/>
                </a:lnTo>
                <a:cubicBezTo>
                  <a:pt x="0" y="64383"/>
                  <a:pt x="19933" y="44450"/>
                  <a:pt x="44450" y="44450"/>
                </a:cubicBezTo>
                <a:lnTo>
                  <a:pt x="66675" y="44450"/>
                </a:lnTo>
                <a:lnTo>
                  <a:pt x="66675" y="22225"/>
                </a:lnTo>
                <a:cubicBezTo>
                  <a:pt x="66675" y="9932"/>
                  <a:pt x="76607" y="0"/>
                  <a:pt x="88900" y="0"/>
                </a:cubicBezTo>
                <a:close/>
                <a:moveTo>
                  <a:pt x="202734" y="152866"/>
                </a:moveTo>
                <a:cubicBezTo>
                  <a:pt x="196205" y="146338"/>
                  <a:pt x="185648" y="146338"/>
                  <a:pt x="179189" y="152866"/>
                </a:cubicBezTo>
                <a:lnTo>
                  <a:pt x="155644" y="176411"/>
                </a:lnTo>
                <a:lnTo>
                  <a:pt x="132100" y="152866"/>
                </a:lnTo>
                <a:cubicBezTo>
                  <a:pt x="125571" y="146338"/>
                  <a:pt x="115014" y="146338"/>
                  <a:pt x="108555" y="152866"/>
                </a:cubicBezTo>
                <a:cubicBezTo>
                  <a:pt x="102096" y="159395"/>
                  <a:pt x="102027" y="169952"/>
                  <a:pt x="108555" y="176411"/>
                </a:cubicBezTo>
                <a:lnTo>
                  <a:pt x="132100" y="199956"/>
                </a:lnTo>
                <a:lnTo>
                  <a:pt x="108555" y="223500"/>
                </a:lnTo>
                <a:cubicBezTo>
                  <a:pt x="102027" y="230029"/>
                  <a:pt x="102027" y="240586"/>
                  <a:pt x="108555" y="247045"/>
                </a:cubicBezTo>
                <a:cubicBezTo>
                  <a:pt x="115084" y="253504"/>
                  <a:pt x="125641" y="253573"/>
                  <a:pt x="132100" y="247045"/>
                </a:cubicBezTo>
                <a:lnTo>
                  <a:pt x="155644" y="223500"/>
                </a:lnTo>
                <a:lnTo>
                  <a:pt x="179189" y="247045"/>
                </a:lnTo>
                <a:cubicBezTo>
                  <a:pt x="185718" y="253573"/>
                  <a:pt x="196275" y="253573"/>
                  <a:pt x="202734" y="247045"/>
                </a:cubicBezTo>
                <a:cubicBezTo>
                  <a:pt x="209193" y="240516"/>
                  <a:pt x="209262" y="229959"/>
                  <a:pt x="202734" y="223500"/>
                </a:cubicBezTo>
                <a:lnTo>
                  <a:pt x="179189" y="199956"/>
                </a:lnTo>
                <a:lnTo>
                  <a:pt x="202734" y="176411"/>
                </a:lnTo>
                <a:cubicBezTo>
                  <a:pt x="209262" y="169882"/>
                  <a:pt x="209262" y="159325"/>
                  <a:pt x="202734" y="15286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1"/>
          <p:cNvSpPr/>
          <p:nvPr/>
        </p:nvSpPr>
        <p:spPr>
          <a:xfrm>
            <a:off x="1524000" y="5842000"/>
            <a:ext cx="368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Month-to-month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taux de churn le plus eleve. Les clients sans engagement partent plus facilement.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715000" y="5715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6775" y="596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44450"/>
                </a:moveTo>
                <a:cubicBezTo>
                  <a:pt x="273645" y="44450"/>
                  <a:pt x="333375" y="104180"/>
                  <a:pt x="333375" y="177800"/>
                </a:cubicBezTo>
                <a:cubicBezTo>
                  <a:pt x="333375" y="251420"/>
                  <a:pt x="273645" y="311150"/>
                  <a:pt x="200025" y="311150"/>
                </a:cubicBezTo>
                <a:cubicBezTo>
                  <a:pt x="154742" y="311150"/>
                  <a:pt x="114667" y="288578"/>
                  <a:pt x="90567" y="253990"/>
                </a:cubicBezTo>
                <a:cubicBezTo>
                  <a:pt x="83552" y="243919"/>
                  <a:pt x="69661" y="241489"/>
                  <a:pt x="59591" y="248503"/>
                </a:cubicBezTo>
                <a:cubicBezTo>
                  <a:pt x="49520" y="255518"/>
                  <a:pt x="47089" y="269409"/>
                  <a:pt x="54104" y="279479"/>
                </a:cubicBezTo>
                <a:cubicBezTo>
                  <a:pt x="86191" y="325457"/>
                  <a:pt x="139601" y="355600"/>
                  <a:pt x="200025" y="355600"/>
                </a:cubicBezTo>
                <a:cubicBezTo>
                  <a:pt x="298232" y="355600"/>
                  <a:pt x="377825" y="276007"/>
                  <a:pt x="377825" y="177800"/>
                </a:cubicBezTo>
                <a:cubicBezTo>
                  <a:pt x="377825" y="79593"/>
                  <a:pt x="298232" y="0"/>
                  <a:pt x="200025" y="0"/>
                </a:cubicBezTo>
                <a:cubicBezTo>
                  <a:pt x="140504" y="0"/>
                  <a:pt x="87858" y="29240"/>
                  <a:pt x="55563" y="74106"/>
                </a:cubicBezTo>
                <a:lnTo>
                  <a:pt x="55563" y="55563"/>
                </a:lnTo>
                <a:cubicBezTo>
                  <a:pt x="55563" y="43269"/>
                  <a:pt x="45631" y="33337"/>
                  <a:pt x="33337" y="33337"/>
                </a:cubicBezTo>
                <a:cubicBezTo>
                  <a:pt x="21044" y="33337"/>
                  <a:pt x="11112" y="43269"/>
                  <a:pt x="11112" y="55563"/>
                </a:cubicBezTo>
                <a:lnTo>
                  <a:pt x="11112" y="133350"/>
                </a:lnTo>
                <a:cubicBezTo>
                  <a:pt x="11112" y="145643"/>
                  <a:pt x="21044" y="155575"/>
                  <a:pt x="33337" y="155575"/>
                </a:cubicBezTo>
                <a:lnTo>
                  <a:pt x="50423" y="155575"/>
                </a:lnTo>
                <a:cubicBezTo>
                  <a:pt x="50770" y="155575"/>
                  <a:pt x="51117" y="155575"/>
                  <a:pt x="51465" y="155575"/>
                </a:cubicBezTo>
                <a:lnTo>
                  <a:pt x="111194" y="155575"/>
                </a:lnTo>
                <a:cubicBezTo>
                  <a:pt x="123488" y="155575"/>
                  <a:pt x="133419" y="145643"/>
                  <a:pt x="133419" y="133350"/>
                </a:cubicBezTo>
                <a:cubicBezTo>
                  <a:pt x="133419" y="121057"/>
                  <a:pt x="123488" y="111125"/>
                  <a:pt x="111194" y="111125"/>
                </a:cubicBezTo>
                <a:lnTo>
                  <a:pt x="84594" y="111125"/>
                </a:lnTo>
                <a:cubicBezTo>
                  <a:pt x="107583" y="71259"/>
                  <a:pt x="150713" y="44450"/>
                  <a:pt x="200025" y="44450"/>
                </a:cubicBezTo>
                <a:close/>
                <a:moveTo>
                  <a:pt x="216694" y="105569"/>
                </a:moveTo>
                <a:cubicBezTo>
                  <a:pt x="216694" y="96331"/>
                  <a:pt x="209262" y="88900"/>
                  <a:pt x="200025" y="88900"/>
                </a:cubicBezTo>
                <a:cubicBezTo>
                  <a:pt x="190788" y="88900"/>
                  <a:pt x="183356" y="96331"/>
                  <a:pt x="183356" y="105569"/>
                </a:cubicBezTo>
                <a:lnTo>
                  <a:pt x="183356" y="177800"/>
                </a:lnTo>
                <a:cubicBezTo>
                  <a:pt x="183356" y="182245"/>
                  <a:pt x="185093" y="186482"/>
                  <a:pt x="188218" y="189607"/>
                </a:cubicBezTo>
                <a:lnTo>
                  <a:pt x="238224" y="239613"/>
                </a:lnTo>
                <a:cubicBezTo>
                  <a:pt x="244753" y="246142"/>
                  <a:pt x="255310" y="246142"/>
                  <a:pt x="261769" y="239613"/>
                </a:cubicBezTo>
                <a:cubicBezTo>
                  <a:pt x="268228" y="233085"/>
                  <a:pt x="268297" y="222528"/>
                  <a:pt x="261769" y="216069"/>
                </a:cubicBezTo>
                <a:lnTo>
                  <a:pt x="216624" y="170924"/>
                </a:lnTo>
                <a:lnTo>
                  <a:pt x="216624" y="10556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4"/>
          <p:cNvSpPr/>
          <p:nvPr/>
        </p:nvSpPr>
        <p:spPr>
          <a:xfrm>
            <a:off x="6477000" y="5842000"/>
            <a:ext cx="368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Anciennete courte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les clients de moins de 10 mois ont le plus fort taux de churn.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0668000" y="5715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0922000" y="596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1" name="Text 17"/>
          <p:cNvSpPr/>
          <p:nvPr/>
        </p:nvSpPr>
        <p:spPr>
          <a:xfrm>
            <a:off x="11430000" y="5842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Contrats longs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Two-year et One-year ont un taux de churn tres faible.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Churn par Charges &amp; Categories</a:t>
            </a:r>
            <a:endParaRPr lang="en-US" sz="2800" dirty="0"/>
          </a:p>
        </p:txBody>
      </p:sp>
      <p:pic>
        <p:nvPicPr>
          <p:cNvPr id="9" name="Image 0" descr="https://kimi-img.moonshot.cn/pub/slides/okc/aq4rucumwnxo4/mnt/agents/output/pdf2_pages/page_6.png"/>
          <p:cNvPicPr>
            <a:picLocks noChangeAspect="1"/>
          </p:cNvPicPr>
          <p:nvPr/>
        </p:nvPicPr>
        <p:blipFill>
          <a:blip r:embed="rId3"/>
          <a:srcRect l="5000" t="2000" r="5000" b="45000"/>
          <a:stretch/>
        </p:blipFill>
        <p:spPr>
          <a:xfrm>
            <a:off x="762000" y="1270000"/>
            <a:ext cx="7112000" cy="3810000"/>
          </a:xfrm>
          <a:prstGeom prst="roundRect">
            <a:avLst>
              <a:gd name="adj" fmla="val 4000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762000" y="5143500"/>
            <a:ext cx="711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MonthlyCharges vs Churn — les clients churnes ont des charges mensuelles plus elevees</a:t>
            </a:r>
            <a:endParaRPr lang="en-US" sz="1600" dirty="0"/>
          </a:p>
        </p:txBody>
      </p:sp>
      <p:pic>
        <p:nvPicPr>
          <p:cNvPr id="11" name="Image 1" descr="https://kimi-img.moonshot.cn/pub/slides/okc/aq4rucumwnxo4/mnt/agents/output/pdf2_pages/page_8.png"/>
          <p:cNvPicPr>
            <a:picLocks noChangeAspect="1"/>
          </p:cNvPicPr>
          <p:nvPr/>
        </p:nvPicPr>
        <p:blipFill>
          <a:blip r:embed="rId4"/>
          <a:srcRect l="5000" t="2000" r="5000" b="25000"/>
          <a:stretch/>
        </p:blipFill>
        <p:spPr>
          <a:xfrm>
            <a:off x="8128000" y="1270000"/>
            <a:ext cx="7366000" cy="3810000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Text 8"/>
          <p:cNvSpPr/>
          <p:nvPr/>
        </p:nvSpPr>
        <p:spPr>
          <a:xfrm>
            <a:off x="8128000" y="5143500"/>
            <a:ext cx="736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Taux de churn par categorie (gender, Partner)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2000" y="558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 EDA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032500"/>
          <a:ext cx="14732000" cy="2413001"/>
        </p:xfrm>
        <a:graphic>
          <a:graphicData uri="http://schemas.openxmlformats.org/drawingml/2006/table">
            <a:tbl>
              <a:tblPr/>
              <a:tblGrid>
                <a:gridCol w="3683000"/>
                <a:gridCol w="5892800"/>
                <a:gridCol w="5156200"/>
              </a:tblGrid>
              <a:tr h="536222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Facteur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Observation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Impact sur Churn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255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 de contrat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Month-to-month domine les churns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Tres fort — principal predicteur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5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Anciennete (tenure)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Clients &lt; 10 mois plus susceptibles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Fort — churn precoce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255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Charges mensuelles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Churnes paient en moyenne plus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Modere — correlate positive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0" y="1270000"/>
            <a:ext cx="6350000" cy="6350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3302000"/>
            <a:ext cx="1016000" cy="76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4699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 &amp;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Nettoyage, encodage, feature engineering et preparation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843000" y="3937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825302" y="417711"/>
                </a:moveTo>
                <a:cubicBezTo>
                  <a:pt x="849511" y="411163"/>
                  <a:pt x="874911" y="422672"/>
                  <a:pt x="885825" y="445095"/>
                </a:cubicBezTo>
                <a:lnTo>
                  <a:pt x="922734" y="519708"/>
                </a:lnTo>
                <a:cubicBezTo>
                  <a:pt x="943173" y="522486"/>
                  <a:pt x="963216" y="528042"/>
                  <a:pt x="982067" y="535781"/>
                </a:cubicBezTo>
                <a:lnTo>
                  <a:pt x="1051520" y="489545"/>
                </a:lnTo>
                <a:cubicBezTo>
                  <a:pt x="1072356" y="475655"/>
                  <a:pt x="1099939" y="478433"/>
                  <a:pt x="1117600" y="496094"/>
                </a:cubicBezTo>
                <a:lnTo>
                  <a:pt x="1155700" y="534194"/>
                </a:lnTo>
                <a:cubicBezTo>
                  <a:pt x="1173361" y="551855"/>
                  <a:pt x="1176139" y="579636"/>
                  <a:pt x="1162248" y="600273"/>
                </a:cubicBezTo>
                <a:lnTo>
                  <a:pt x="1116013" y="669528"/>
                </a:lnTo>
                <a:cubicBezTo>
                  <a:pt x="1119783" y="678855"/>
                  <a:pt x="1123156" y="688578"/>
                  <a:pt x="1125934" y="698698"/>
                </a:cubicBezTo>
                <a:cubicBezTo>
                  <a:pt x="1128713" y="708819"/>
                  <a:pt x="1130498" y="718741"/>
                  <a:pt x="1131888" y="728861"/>
                </a:cubicBezTo>
                <a:lnTo>
                  <a:pt x="1206698" y="765770"/>
                </a:lnTo>
                <a:cubicBezTo>
                  <a:pt x="1229122" y="776883"/>
                  <a:pt x="1240631" y="802283"/>
                  <a:pt x="1234083" y="826294"/>
                </a:cubicBezTo>
                <a:lnTo>
                  <a:pt x="1220192" y="878284"/>
                </a:lnTo>
                <a:cubicBezTo>
                  <a:pt x="1213644" y="902295"/>
                  <a:pt x="1191220" y="918567"/>
                  <a:pt x="1166217" y="916980"/>
                </a:cubicBezTo>
                <a:lnTo>
                  <a:pt x="1082873" y="911622"/>
                </a:lnTo>
                <a:cubicBezTo>
                  <a:pt x="1070372" y="927695"/>
                  <a:pt x="1055886" y="942578"/>
                  <a:pt x="1039416" y="955278"/>
                </a:cubicBezTo>
                <a:lnTo>
                  <a:pt x="1044773" y="1038423"/>
                </a:lnTo>
                <a:cubicBezTo>
                  <a:pt x="1046361" y="1063427"/>
                  <a:pt x="1030089" y="1086048"/>
                  <a:pt x="1006078" y="1092398"/>
                </a:cubicBezTo>
                <a:lnTo>
                  <a:pt x="954088" y="1106289"/>
                </a:lnTo>
                <a:cubicBezTo>
                  <a:pt x="929878" y="1112838"/>
                  <a:pt x="904677" y="1101328"/>
                  <a:pt x="893564" y="1078905"/>
                </a:cubicBezTo>
                <a:lnTo>
                  <a:pt x="856655" y="1004292"/>
                </a:lnTo>
                <a:cubicBezTo>
                  <a:pt x="836216" y="1001514"/>
                  <a:pt x="816173" y="995958"/>
                  <a:pt x="797322" y="988219"/>
                </a:cubicBezTo>
                <a:lnTo>
                  <a:pt x="727869" y="1034455"/>
                </a:lnTo>
                <a:cubicBezTo>
                  <a:pt x="707033" y="1048345"/>
                  <a:pt x="679450" y="1045567"/>
                  <a:pt x="661789" y="1027906"/>
                </a:cubicBezTo>
                <a:lnTo>
                  <a:pt x="623689" y="989806"/>
                </a:lnTo>
                <a:cubicBezTo>
                  <a:pt x="606028" y="972145"/>
                  <a:pt x="603250" y="944563"/>
                  <a:pt x="617141" y="923727"/>
                </a:cubicBezTo>
                <a:lnTo>
                  <a:pt x="663377" y="854273"/>
                </a:lnTo>
                <a:cubicBezTo>
                  <a:pt x="659606" y="844947"/>
                  <a:pt x="656233" y="835223"/>
                  <a:pt x="653455" y="825103"/>
                </a:cubicBezTo>
                <a:cubicBezTo>
                  <a:pt x="650677" y="814983"/>
                  <a:pt x="648891" y="804863"/>
                  <a:pt x="647502" y="794941"/>
                </a:cubicBezTo>
                <a:lnTo>
                  <a:pt x="572691" y="758031"/>
                </a:lnTo>
                <a:cubicBezTo>
                  <a:pt x="550267" y="746919"/>
                  <a:pt x="538956" y="721519"/>
                  <a:pt x="545306" y="697508"/>
                </a:cubicBezTo>
                <a:lnTo>
                  <a:pt x="559197" y="645517"/>
                </a:lnTo>
                <a:cubicBezTo>
                  <a:pt x="565745" y="621506"/>
                  <a:pt x="588169" y="605234"/>
                  <a:pt x="613172" y="606822"/>
                </a:cubicBezTo>
                <a:lnTo>
                  <a:pt x="696317" y="612180"/>
                </a:lnTo>
                <a:cubicBezTo>
                  <a:pt x="708819" y="596106"/>
                  <a:pt x="723305" y="581223"/>
                  <a:pt x="739775" y="568523"/>
                </a:cubicBezTo>
                <a:lnTo>
                  <a:pt x="734417" y="485577"/>
                </a:lnTo>
                <a:cubicBezTo>
                  <a:pt x="732830" y="460573"/>
                  <a:pt x="749102" y="437952"/>
                  <a:pt x="773113" y="431602"/>
                </a:cubicBezTo>
                <a:lnTo>
                  <a:pt x="825103" y="417711"/>
                </a:lnTo>
                <a:close/>
                <a:moveTo>
                  <a:pt x="889794" y="674688"/>
                </a:moveTo>
                <a:cubicBezTo>
                  <a:pt x="841605" y="674742"/>
                  <a:pt x="802526" y="713910"/>
                  <a:pt x="802580" y="762099"/>
                </a:cubicBezTo>
                <a:cubicBezTo>
                  <a:pt x="802635" y="810288"/>
                  <a:pt x="841803" y="849367"/>
                  <a:pt x="889992" y="849313"/>
                </a:cubicBezTo>
                <a:cubicBezTo>
                  <a:pt x="938181" y="849258"/>
                  <a:pt x="977260" y="810090"/>
                  <a:pt x="977205" y="761901"/>
                </a:cubicBezTo>
                <a:cubicBezTo>
                  <a:pt x="977151" y="713712"/>
                  <a:pt x="937983" y="674633"/>
                  <a:pt x="889794" y="674688"/>
                </a:cubicBezTo>
                <a:close/>
                <a:moveTo>
                  <a:pt x="446286" y="-90289"/>
                </a:moveTo>
                <a:lnTo>
                  <a:pt x="498277" y="-76398"/>
                </a:lnTo>
                <a:cubicBezTo>
                  <a:pt x="522288" y="-69850"/>
                  <a:pt x="538559" y="-47228"/>
                  <a:pt x="536972" y="-22423"/>
                </a:cubicBezTo>
                <a:lnTo>
                  <a:pt x="531614" y="60523"/>
                </a:lnTo>
                <a:cubicBezTo>
                  <a:pt x="548084" y="73223"/>
                  <a:pt x="562570" y="87908"/>
                  <a:pt x="575072" y="104180"/>
                </a:cubicBezTo>
                <a:lnTo>
                  <a:pt x="658416" y="98822"/>
                </a:lnTo>
                <a:cubicBezTo>
                  <a:pt x="683220" y="97234"/>
                  <a:pt x="705842" y="113506"/>
                  <a:pt x="712391" y="137517"/>
                </a:cubicBezTo>
                <a:lnTo>
                  <a:pt x="726281" y="189508"/>
                </a:lnTo>
                <a:cubicBezTo>
                  <a:pt x="732631" y="213519"/>
                  <a:pt x="721320" y="238919"/>
                  <a:pt x="698897" y="250031"/>
                </a:cubicBezTo>
                <a:lnTo>
                  <a:pt x="624086" y="286941"/>
                </a:lnTo>
                <a:cubicBezTo>
                  <a:pt x="622697" y="297061"/>
                  <a:pt x="620713" y="307181"/>
                  <a:pt x="618133" y="317103"/>
                </a:cubicBezTo>
                <a:cubicBezTo>
                  <a:pt x="615553" y="327025"/>
                  <a:pt x="611981" y="336947"/>
                  <a:pt x="608211" y="346273"/>
                </a:cubicBezTo>
                <a:lnTo>
                  <a:pt x="654447" y="415727"/>
                </a:lnTo>
                <a:cubicBezTo>
                  <a:pt x="668338" y="436563"/>
                  <a:pt x="665559" y="464145"/>
                  <a:pt x="647898" y="481806"/>
                </a:cubicBezTo>
                <a:lnTo>
                  <a:pt x="609798" y="519906"/>
                </a:lnTo>
                <a:cubicBezTo>
                  <a:pt x="592138" y="537567"/>
                  <a:pt x="564555" y="540345"/>
                  <a:pt x="543719" y="526455"/>
                </a:cubicBezTo>
                <a:lnTo>
                  <a:pt x="474266" y="480219"/>
                </a:lnTo>
                <a:cubicBezTo>
                  <a:pt x="455414" y="487958"/>
                  <a:pt x="435372" y="493514"/>
                  <a:pt x="414933" y="496292"/>
                </a:cubicBezTo>
                <a:lnTo>
                  <a:pt x="378023" y="570905"/>
                </a:lnTo>
                <a:cubicBezTo>
                  <a:pt x="366911" y="593328"/>
                  <a:pt x="341511" y="604639"/>
                  <a:pt x="317500" y="598289"/>
                </a:cubicBezTo>
                <a:lnTo>
                  <a:pt x="265509" y="584398"/>
                </a:lnTo>
                <a:cubicBezTo>
                  <a:pt x="241300" y="577850"/>
                  <a:pt x="225227" y="555228"/>
                  <a:pt x="226814" y="530423"/>
                </a:cubicBezTo>
                <a:lnTo>
                  <a:pt x="232172" y="447278"/>
                </a:lnTo>
                <a:cubicBezTo>
                  <a:pt x="215702" y="434578"/>
                  <a:pt x="201216" y="419894"/>
                  <a:pt x="188714" y="403622"/>
                </a:cubicBezTo>
                <a:lnTo>
                  <a:pt x="105370" y="408980"/>
                </a:lnTo>
                <a:cubicBezTo>
                  <a:pt x="80566" y="410567"/>
                  <a:pt x="57944" y="394295"/>
                  <a:pt x="51395" y="370284"/>
                </a:cubicBezTo>
                <a:lnTo>
                  <a:pt x="37505" y="318294"/>
                </a:lnTo>
                <a:cubicBezTo>
                  <a:pt x="31155" y="294283"/>
                  <a:pt x="42466" y="268883"/>
                  <a:pt x="64889" y="257770"/>
                </a:cubicBezTo>
                <a:lnTo>
                  <a:pt x="139700" y="220861"/>
                </a:lnTo>
                <a:cubicBezTo>
                  <a:pt x="141089" y="210741"/>
                  <a:pt x="143073" y="200819"/>
                  <a:pt x="145653" y="190698"/>
                </a:cubicBezTo>
                <a:cubicBezTo>
                  <a:pt x="148431" y="180578"/>
                  <a:pt x="151606" y="170855"/>
                  <a:pt x="155575" y="161528"/>
                </a:cubicBezTo>
                <a:lnTo>
                  <a:pt x="109339" y="92273"/>
                </a:lnTo>
                <a:cubicBezTo>
                  <a:pt x="95448" y="71438"/>
                  <a:pt x="98227" y="43855"/>
                  <a:pt x="115888" y="26194"/>
                </a:cubicBezTo>
                <a:lnTo>
                  <a:pt x="153988" y="-11906"/>
                </a:lnTo>
                <a:cubicBezTo>
                  <a:pt x="171648" y="-29567"/>
                  <a:pt x="199231" y="-32345"/>
                  <a:pt x="220067" y="-18455"/>
                </a:cubicBezTo>
                <a:lnTo>
                  <a:pt x="289520" y="27781"/>
                </a:lnTo>
                <a:cubicBezTo>
                  <a:pt x="308372" y="20042"/>
                  <a:pt x="328414" y="14486"/>
                  <a:pt x="348853" y="11708"/>
                </a:cubicBezTo>
                <a:lnTo>
                  <a:pt x="385762" y="-62905"/>
                </a:lnTo>
                <a:cubicBezTo>
                  <a:pt x="396875" y="-85328"/>
                  <a:pt x="422077" y="-96639"/>
                  <a:pt x="446286" y="-90289"/>
                </a:cubicBezTo>
                <a:close/>
                <a:moveTo>
                  <a:pt x="381794" y="166688"/>
                </a:moveTo>
                <a:cubicBezTo>
                  <a:pt x="333605" y="166688"/>
                  <a:pt x="294481" y="205811"/>
                  <a:pt x="294481" y="254000"/>
                </a:cubicBezTo>
                <a:cubicBezTo>
                  <a:pt x="294481" y="302189"/>
                  <a:pt x="333605" y="341313"/>
                  <a:pt x="381794" y="341313"/>
                </a:cubicBezTo>
                <a:cubicBezTo>
                  <a:pt x="429983" y="341313"/>
                  <a:pt x="469106" y="302189"/>
                  <a:pt x="469106" y="254000"/>
                </a:cubicBezTo>
                <a:cubicBezTo>
                  <a:pt x="469106" y="205811"/>
                  <a:pt x="429983" y="166688"/>
                  <a:pt x="381794" y="166688"/>
                </a:cubicBezTo>
                <a:close/>
              </a:path>
            </a:pathLst>
          </a:custGeom>
          <a:solidFill>
            <a:srgbClr val="FFFFFF">
              <a:alpha val="8235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26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Pipeline de Preprocessing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397000"/>
            <a:ext cx="228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2000" y="1460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" y="1841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9000" y="21844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 TotalCharges en numerique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11500" y="21590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492500" y="1397000"/>
            <a:ext cx="228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92500" y="1460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9500" y="1841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9500" y="21844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valeurs → remplissage par mediane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42000" y="21590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223000" y="1397000"/>
            <a:ext cx="228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23000" y="1460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ETAPE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0000" y="1841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 &amp; Encode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0000" y="21844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Suppression customerID, encodage Churn (0/1)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72500" y="21590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8953500" y="1397000"/>
            <a:ext cx="228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53500" y="1460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ETAPE 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80500" y="1841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One-Hot Encoding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80500" y="21844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features apres encodage (drop_first=True)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303000" y="21590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1684000" y="1397000"/>
            <a:ext cx="228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684000" y="1460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ETAPE 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11000" y="1841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Train/Test Split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11000" y="21844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80/20 stratifie, random_state=42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033500" y="21590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4414500" y="1397000"/>
            <a:ext cx="1079500" cy="1651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4414500" y="1460500"/>
            <a:ext cx="107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ETAPE 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478000" y="1841500"/>
            <a:ext cx="95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Standard-isation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2000" y="342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 des dimensions</a:t>
            </a:r>
            <a:endParaRPr lang="en-US" sz="16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762000" y="3873500"/>
          <a:ext cx="7112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9" name="Image 0" descr="https://kimi-img.moonshot.cn/pub/slides/okc/aq4rucumwnxo4/mnt/agents/output/pdf1_pages/page_2.png"/>
          <p:cNvPicPr>
            <a:picLocks noChangeAspect="1"/>
          </p:cNvPicPr>
          <p:nvPr/>
        </p:nvPicPr>
        <p:blipFill>
          <a:blip r:embed="rId4"/>
          <a:srcRect l="5000" t="2000" r="5000" b="2000"/>
          <a:stretch/>
        </p:blipFill>
        <p:spPr>
          <a:xfrm>
            <a:off x="8128000" y="3429000"/>
            <a:ext cx="7366000" cy="4699000"/>
          </a:xfrm>
          <a:prstGeom prst="roundRect">
            <a:avLst>
              <a:gd name="adj" fmla="val 4000"/>
            </a:avLst>
          </a:prstGeom>
        </p:spPr>
      </p:pic>
      <p:sp>
        <p:nvSpPr>
          <p:cNvPr id="40" name="Text 36"/>
          <p:cNvSpPr/>
          <p:nvPr/>
        </p:nvSpPr>
        <p:spPr>
          <a:xfrm>
            <a:off x="8128000" y="8191500"/>
            <a:ext cx="736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des 11 valeurs manquantes dans TotalCharges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26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333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66800" y="1524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50800"/>
                </a:lnTo>
                <a:cubicBezTo>
                  <a:pt x="304800" y="22781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76200" y="50800"/>
                </a:moveTo>
                <a:lnTo>
                  <a:pt x="228600" y="50800"/>
                </a:lnTo>
                <a:cubicBezTo>
                  <a:pt x="242649" y="50800"/>
                  <a:pt x="254000" y="62151"/>
                  <a:pt x="254000" y="762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76200" y="127000"/>
                </a:lnTo>
                <a:cubicBezTo>
                  <a:pt x="62151" y="127000"/>
                  <a:pt x="50800" y="115649"/>
                  <a:pt x="50800" y="101600"/>
                </a:cubicBezTo>
                <a:lnTo>
                  <a:pt x="50800" y="76200"/>
                </a:lnTo>
                <a:cubicBezTo>
                  <a:pt x="50800" y="62151"/>
                  <a:pt x="62151" y="50800"/>
                  <a:pt x="76200" y="50800"/>
                </a:cubicBezTo>
                <a:close/>
                <a:moveTo>
                  <a:pt x="88900" y="184150"/>
                </a:moveTo>
                <a:cubicBezTo>
                  <a:pt x="88900" y="194664"/>
                  <a:pt x="80364" y="203200"/>
                  <a:pt x="69850" y="203200"/>
                </a:cubicBezTo>
                <a:cubicBezTo>
                  <a:pt x="59336" y="203200"/>
                  <a:pt x="50800" y="194664"/>
                  <a:pt x="50800" y="184150"/>
                </a:cubicBezTo>
                <a:cubicBezTo>
                  <a:pt x="50800" y="173636"/>
                  <a:pt x="59336" y="165100"/>
                  <a:pt x="69850" y="165100"/>
                </a:cubicBezTo>
                <a:cubicBezTo>
                  <a:pt x="80364" y="165100"/>
                  <a:pt x="88900" y="173636"/>
                  <a:pt x="88900" y="184150"/>
                </a:cubicBezTo>
                <a:close/>
                <a:moveTo>
                  <a:pt x="152400" y="203200"/>
                </a:moveTo>
                <a:cubicBezTo>
                  <a:pt x="141886" y="203200"/>
                  <a:pt x="133350" y="194664"/>
                  <a:pt x="133350" y="184150"/>
                </a:cubicBezTo>
                <a:cubicBezTo>
                  <a:pt x="133350" y="173636"/>
                  <a:pt x="141886" y="165100"/>
                  <a:pt x="152400" y="165100"/>
                </a:cubicBezTo>
                <a:cubicBezTo>
                  <a:pt x="162914" y="165100"/>
                  <a:pt x="171450" y="173636"/>
                  <a:pt x="171450" y="184150"/>
                </a:cubicBezTo>
                <a:cubicBezTo>
                  <a:pt x="171450" y="194664"/>
                  <a:pt x="162914" y="203200"/>
                  <a:pt x="152400" y="203200"/>
                </a:cubicBezTo>
                <a:close/>
                <a:moveTo>
                  <a:pt x="254000" y="184150"/>
                </a:moveTo>
                <a:cubicBezTo>
                  <a:pt x="254000" y="194664"/>
                  <a:pt x="245464" y="203200"/>
                  <a:pt x="234950" y="203200"/>
                </a:cubicBezTo>
                <a:cubicBezTo>
                  <a:pt x="224436" y="203200"/>
                  <a:pt x="215900" y="194664"/>
                  <a:pt x="215900" y="184150"/>
                </a:cubicBezTo>
                <a:cubicBezTo>
                  <a:pt x="215900" y="173636"/>
                  <a:pt x="224436" y="165100"/>
                  <a:pt x="234950" y="165100"/>
                </a:cubicBezTo>
                <a:cubicBezTo>
                  <a:pt x="245464" y="165100"/>
                  <a:pt x="254000" y="173636"/>
                  <a:pt x="254000" y="184150"/>
                </a:cubicBezTo>
                <a:close/>
                <a:moveTo>
                  <a:pt x="69850" y="279400"/>
                </a:moveTo>
                <a:cubicBezTo>
                  <a:pt x="59336" y="279400"/>
                  <a:pt x="50800" y="270864"/>
                  <a:pt x="50800" y="260350"/>
                </a:cubicBezTo>
                <a:cubicBezTo>
                  <a:pt x="50800" y="249836"/>
                  <a:pt x="59336" y="241300"/>
                  <a:pt x="69850" y="241300"/>
                </a:cubicBezTo>
                <a:cubicBezTo>
                  <a:pt x="80364" y="241300"/>
                  <a:pt x="88900" y="249836"/>
                  <a:pt x="88900" y="260350"/>
                </a:cubicBezTo>
                <a:cubicBezTo>
                  <a:pt x="88900" y="270864"/>
                  <a:pt x="80364" y="279400"/>
                  <a:pt x="69850" y="279400"/>
                </a:cubicBezTo>
                <a:close/>
                <a:moveTo>
                  <a:pt x="171450" y="260350"/>
                </a:moveTo>
                <a:cubicBezTo>
                  <a:pt x="171450" y="270864"/>
                  <a:pt x="162914" y="279400"/>
                  <a:pt x="152400" y="279400"/>
                </a:cubicBezTo>
                <a:cubicBezTo>
                  <a:pt x="141886" y="279400"/>
                  <a:pt x="133350" y="270864"/>
                  <a:pt x="133350" y="260350"/>
                </a:cubicBezTo>
                <a:cubicBezTo>
                  <a:pt x="133350" y="249836"/>
                  <a:pt x="141886" y="241300"/>
                  <a:pt x="152400" y="241300"/>
                </a:cubicBezTo>
                <a:cubicBezTo>
                  <a:pt x="162914" y="241300"/>
                  <a:pt x="171450" y="249836"/>
                  <a:pt x="171450" y="260350"/>
                </a:cubicBezTo>
                <a:close/>
                <a:moveTo>
                  <a:pt x="234950" y="279400"/>
                </a:moveTo>
                <a:cubicBezTo>
                  <a:pt x="224436" y="279400"/>
                  <a:pt x="215900" y="270864"/>
                  <a:pt x="215900" y="260350"/>
                </a:cubicBezTo>
                <a:cubicBezTo>
                  <a:pt x="215900" y="249836"/>
                  <a:pt x="224436" y="241300"/>
                  <a:pt x="234950" y="241300"/>
                </a:cubicBezTo>
                <a:cubicBezTo>
                  <a:pt x="245464" y="241300"/>
                  <a:pt x="254000" y="249836"/>
                  <a:pt x="254000" y="260350"/>
                </a:cubicBezTo>
                <a:cubicBezTo>
                  <a:pt x="254000" y="270864"/>
                  <a:pt x="245464" y="279400"/>
                  <a:pt x="234950" y="279400"/>
                </a:cubicBezTo>
                <a:close/>
                <a:moveTo>
                  <a:pt x="50800" y="336550"/>
                </a:moveTo>
                <a:cubicBezTo>
                  <a:pt x="50800" y="325993"/>
                  <a:pt x="59293" y="317500"/>
                  <a:pt x="69850" y="317500"/>
                </a:cubicBezTo>
                <a:lnTo>
                  <a:pt x="158750" y="317500"/>
                </a:lnTo>
                <a:cubicBezTo>
                  <a:pt x="169307" y="317500"/>
                  <a:pt x="177800" y="325993"/>
                  <a:pt x="177800" y="336550"/>
                </a:cubicBezTo>
                <a:cubicBezTo>
                  <a:pt x="177800" y="347107"/>
                  <a:pt x="169307" y="355600"/>
                  <a:pt x="158750" y="355600"/>
                </a:cubicBezTo>
                <a:lnTo>
                  <a:pt x="69850" y="355600"/>
                </a:lnTo>
                <a:cubicBezTo>
                  <a:pt x="59293" y="355600"/>
                  <a:pt x="50800" y="347107"/>
                  <a:pt x="50800" y="336550"/>
                </a:cubicBezTo>
                <a:close/>
                <a:moveTo>
                  <a:pt x="234950" y="317500"/>
                </a:moveTo>
                <a:cubicBezTo>
                  <a:pt x="245507" y="317500"/>
                  <a:pt x="254000" y="325993"/>
                  <a:pt x="254000" y="336550"/>
                </a:cubicBezTo>
                <a:cubicBezTo>
                  <a:pt x="254000" y="347107"/>
                  <a:pt x="245507" y="355600"/>
                  <a:pt x="234950" y="355600"/>
                </a:cubicBezTo>
                <a:cubicBezTo>
                  <a:pt x="224393" y="355600"/>
                  <a:pt x="215900" y="347107"/>
                  <a:pt x="215900" y="336550"/>
                </a:cubicBezTo>
                <a:cubicBezTo>
                  <a:pt x="215900" y="325993"/>
                  <a:pt x="224393" y="317500"/>
                  <a:pt x="234950" y="3175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1524000"/>
            <a:ext cx="3619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AverageMonthlyCost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20066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TotalCharges / (tenure + 1)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476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Cout mensuel moyen reel du client sur toute sa duree de vie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0" y="1333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152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540500" y="1524000"/>
            <a:ext cx="3619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HighValueCustomer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9000" y="20066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MonthlyCharges &gt; mean(MonthlyCharges)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69000" y="2476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Indicateur binaire : client a charges superieures a la moyenne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1333500"/>
            <a:ext cx="4826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47400" y="1524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0"/>
                </a:moveTo>
                <a:cubicBezTo>
                  <a:pt x="115649" y="0"/>
                  <a:pt x="127000" y="11351"/>
                  <a:pt x="127000" y="25400"/>
                </a:cubicBezTo>
                <a:lnTo>
                  <a:pt x="127000" y="50800"/>
                </a:lnTo>
                <a:lnTo>
                  <a:pt x="228600" y="50800"/>
                </a:lnTo>
                <a:lnTo>
                  <a:pt x="228600" y="25400"/>
                </a:lnTo>
                <a:cubicBezTo>
                  <a:pt x="228600" y="11351"/>
                  <a:pt x="239951" y="0"/>
                  <a:pt x="254000" y="0"/>
                </a:cubicBezTo>
                <a:cubicBezTo>
                  <a:pt x="268049" y="0"/>
                  <a:pt x="279400" y="11351"/>
                  <a:pt x="279400" y="25400"/>
                </a:cubicBezTo>
                <a:lnTo>
                  <a:pt x="279400" y="50800"/>
                </a:lnTo>
                <a:lnTo>
                  <a:pt x="304800" y="50800"/>
                </a:lnTo>
                <a:cubicBezTo>
                  <a:pt x="332819" y="50800"/>
                  <a:pt x="355600" y="73581"/>
                  <a:pt x="355600" y="101600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101600"/>
                </a:lnTo>
                <a:cubicBezTo>
                  <a:pt x="0" y="73581"/>
                  <a:pt x="22781" y="50800"/>
                  <a:pt x="50800" y="50800"/>
                </a:cubicBezTo>
                <a:lnTo>
                  <a:pt x="76200" y="50800"/>
                </a:lnTo>
                <a:lnTo>
                  <a:pt x="76200" y="25400"/>
                </a:lnTo>
                <a:cubicBezTo>
                  <a:pt x="76200" y="11351"/>
                  <a:pt x="87551" y="0"/>
                  <a:pt x="101600" y="0"/>
                </a:cubicBezTo>
                <a:close/>
                <a:moveTo>
                  <a:pt x="244793" y="181531"/>
                </a:moveTo>
                <a:cubicBezTo>
                  <a:pt x="250349" y="172641"/>
                  <a:pt x="247650" y="160893"/>
                  <a:pt x="238760" y="155258"/>
                </a:cubicBezTo>
                <a:cubicBezTo>
                  <a:pt x="229870" y="149622"/>
                  <a:pt x="218122" y="152400"/>
                  <a:pt x="212487" y="161290"/>
                </a:cubicBezTo>
                <a:lnTo>
                  <a:pt x="163751" y="239316"/>
                </a:lnTo>
                <a:lnTo>
                  <a:pt x="142319" y="210741"/>
                </a:lnTo>
                <a:cubicBezTo>
                  <a:pt x="135969" y="202327"/>
                  <a:pt x="124063" y="200581"/>
                  <a:pt x="115649" y="206931"/>
                </a:cubicBezTo>
                <a:cubicBezTo>
                  <a:pt x="107236" y="213281"/>
                  <a:pt x="105489" y="225187"/>
                  <a:pt x="111839" y="233601"/>
                </a:cubicBezTo>
                <a:lnTo>
                  <a:pt x="149939" y="284401"/>
                </a:lnTo>
                <a:cubicBezTo>
                  <a:pt x="153670" y="289401"/>
                  <a:pt x="159702" y="292259"/>
                  <a:pt x="165973" y="292021"/>
                </a:cubicBezTo>
                <a:cubicBezTo>
                  <a:pt x="172244" y="291783"/>
                  <a:pt x="177959" y="288449"/>
                  <a:pt x="181292" y="283051"/>
                </a:cubicBezTo>
                <a:lnTo>
                  <a:pt x="244792" y="18145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93500" y="1524000"/>
            <a:ext cx="374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LongTermCustomer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2000" y="20066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tenure &gt;= 24 mois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22000" y="24765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Indicateur binaire : client fidele depuis plus de 2 ans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368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Dimensions finales du dataset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27500"/>
          <a:ext cx="7112000" cy="2286000"/>
        </p:xfrm>
        <a:graphic>
          <a:graphicData uri="http://schemas.openxmlformats.org/drawingml/2006/table">
            <a:tbl>
              <a:tblPr/>
              <a:tblGrid>
                <a:gridCol w="2489200"/>
                <a:gridCol w="1422400"/>
                <a:gridCol w="1422400"/>
                <a:gridCol w="17780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Dataset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Lignes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Colonnes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Proportion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X_train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5 634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X_test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1 409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7 043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8128000" y="3683000"/>
            <a:ext cx="7366000" cy="273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445500" y="3873500"/>
            <a:ext cx="673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Colonnes categorielles encodees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445500" y="4254500"/>
            <a:ext cx="673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gender (Male/Female)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Partner, Dependents, PhoneService, PaperlessBilling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InternetService (DSL, Fiber optic, No)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Contract (Month-to-month, One year, Two year)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PaymentMethod (4 modalities)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MultipleLines, OnlineSecurity, OnlineBackup, DeviceProtection, TechSupport, StreamingTV, StreamingMovies</a:t>
            </a:r>
            <a:endParaRPr lang="en-US" sz="1600" dirty="0"/>
          </a:p>
        </p:txBody>
      </p:sp>
      <p:pic>
        <p:nvPicPr>
          <p:cNvPr id="29" name="Image 0" descr="https://kimi-img.moonshot.cn/pub/slides/okc/aq4rucumwnxo4/mnt/agents/output/pdf1_pages/page_4.png"/>
          <p:cNvPicPr>
            <a:picLocks noChangeAspect="1"/>
          </p:cNvPicPr>
          <p:nvPr/>
        </p:nvPicPr>
        <p:blipFill>
          <a:blip r:embed="rId3"/>
          <a:srcRect l="5000" t="55000" r="5000" b="2000"/>
          <a:stretch/>
        </p:blipFill>
        <p:spPr>
          <a:xfrm>
            <a:off x="762000" y="6731000"/>
            <a:ext cx="14732000" cy="1778000"/>
          </a:xfrm>
          <a:prstGeom prst="roundRect">
            <a:avLst>
              <a:gd name="adj" fmla="val 4000"/>
            </a:avLst>
          </a:prstGeom>
        </p:spPr>
      </p:pic>
      <p:sp>
        <p:nvSpPr>
          <p:cNvPr id="30" name="Text 26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0" y="1270000"/>
            <a:ext cx="6350000" cy="6350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3302000"/>
            <a:ext cx="1016000" cy="76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4699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Modeles Machine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Regression, Random Forest, XGBoost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843000" y="3937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698500" y="0"/>
                </a:moveTo>
                <a:cubicBezTo>
                  <a:pt x="698500" y="-35123"/>
                  <a:pt x="670123" y="-63500"/>
                  <a:pt x="635000" y="-63500"/>
                </a:cubicBezTo>
                <a:cubicBezTo>
                  <a:pt x="599877" y="-63500"/>
                  <a:pt x="571500" y="-35123"/>
                  <a:pt x="571500" y="0"/>
                </a:cubicBezTo>
                <a:lnTo>
                  <a:pt x="571500" y="127000"/>
                </a:lnTo>
                <a:lnTo>
                  <a:pt x="381000" y="127000"/>
                </a:lnTo>
                <a:cubicBezTo>
                  <a:pt x="275828" y="127000"/>
                  <a:pt x="190500" y="212328"/>
                  <a:pt x="190500" y="317500"/>
                </a:cubicBezTo>
                <a:lnTo>
                  <a:pt x="190500" y="762000"/>
                </a:lnTo>
                <a:cubicBezTo>
                  <a:pt x="190500" y="867172"/>
                  <a:pt x="275828" y="952500"/>
                  <a:pt x="381000" y="952500"/>
                </a:cubicBezTo>
                <a:lnTo>
                  <a:pt x="889000" y="952500"/>
                </a:lnTo>
                <a:cubicBezTo>
                  <a:pt x="994172" y="952500"/>
                  <a:pt x="1079500" y="867172"/>
                  <a:pt x="1079500" y="762000"/>
                </a:cubicBezTo>
                <a:lnTo>
                  <a:pt x="1079500" y="317500"/>
                </a:lnTo>
                <a:cubicBezTo>
                  <a:pt x="1079500" y="212328"/>
                  <a:pt x="994172" y="127000"/>
                  <a:pt x="889000" y="127000"/>
                </a:cubicBezTo>
                <a:lnTo>
                  <a:pt x="698500" y="127000"/>
                </a:lnTo>
                <a:lnTo>
                  <a:pt x="698500" y="0"/>
                </a:lnTo>
                <a:close/>
                <a:moveTo>
                  <a:pt x="317500" y="730250"/>
                </a:moveTo>
                <a:cubicBezTo>
                  <a:pt x="317500" y="703858"/>
                  <a:pt x="338733" y="682625"/>
                  <a:pt x="365125" y="682625"/>
                </a:cubicBezTo>
                <a:lnTo>
                  <a:pt x="428625" y="682625"/>
                </a:lnTo>
                <a:cubicBezTo>
                  <a:pt x="455017" y="682625"/>
                  <a:pt x="476250" y="703858"/>
                  <a:pt x="476250" y="730250"/>
                </a:cubicBezTo>
                <a:cubicBezTo>
                  <a:pt x="476250" y="756642"/>
                  <a:pt x="455017" y="777875"/>
                  <a:pt x="428625" y="777875"/>
                </a:cubicBezTo>
                <a:lnTo>
                  <a:pt x="365125" y="777875"/>
                </a:lnTo>
                <a:cubicBezTo>
                  <a:pt x="338733" y="777875"/>
                  <a:pt x="317500" y="756642"/>
                  <a:pt x="317500" y="730250"/>
                </a:cubicBezTo>
                <a:close/>
                <a:moveTo>
                  <a:pt x="555625" y="730250"/>
                </a:moveTo>
                <a:cubicBezTo>
                  <a:pt x="555625" y="703858"/>
                  <a:pt x="576858" y="682625"/>
                  <a:pt x="603250" y="682625"/>
                </a:cubicBezTo>
                <a:lnTo>
                  <a:pt x="666750" y="682625"/>
                </a:lnTo>
                <a:cubicBezTo>
                  <a:pt x="693142" y="682625"/>
                  <a:pt x="714375" y="703858"/>
                  <a:pt x="714375" y="730250"/>
                </a:cubicBezTo>
                <a:cubicBezTo>
                  <a:pt x="714375" y="756642"/>
                  <a:pt x="693142" y="777875"/>
                  <a:pt x="666750" y="777875"/>
                </a:cubicBezTo>
                <a:lnTo>
                  <a:pt x="603250" y="777875"/>
                </a:lnTo>
                <a:cubicBezTo>
                  <a:pt x="576858" y="777875"/>
                  <a:pt x="555625" y="756642"/>
                  <a:pt x="555625" y="730250"/>
                </a:cubicBezTo>
                <a:close/>
                <a:moveTo>
                  <a:pt x="793750" y="730250"/>
                </a:moveTo>
                <a:cubicBezTo>
                  <a:pt x="793750" y="703858"/>
                  <a:pt x="814983" y="682625"/>
                  <a:pt x="841375" y="682625"/>
                </a:cubicBezTo>
                <a:lnTo>
                  <a:pt x="904875" y="682625"/>
                </a:lnTo>
                <a:cubicBezTo>
                  <a:pt x="931267" y="682625"/>
                  <a:pt x="952500" y="703858"/>
                  <a:pt x="952500" y="730250"/>
                </a:cubicBezTo>
                <a:cubicBezTo>
                  <a:pt x="952500" y="756642"/>
                  <a:pt x="931267" y="777875"/>
                  <a:pt x="904875" y="777875"/>
                </a:cubicBezTo>
                <a:lnTo>
                  <a:pt x="841375" y="777875"/>
                </a:lnTo>
                <a:cubicBezTo>
                  <a:pt x="814983" y="777875"/>
                  <a:pt x="793750" y="756642"/>
                  <a:pt x="793750" y="730250"/>
                </a:cubicBezTo>
                <a:close/>
                <a:moveTo>
                  <a:pt x="444500" y="349250"/>
                </a:moveTo>
                <a:cubicBezTo>
                  <a:pt x="497070" y="349250"/>
                  <a:pt x="539750" y="391930"/>
                  <a:pt x="539750" y="444500"/>
                </a:cubicBezTo>
                <a:cubicBezTo>
                  <a:pt x="539750" y="497070"/>
                  <a:pt x="497070" y="539750"/>
                  <a:pt x="444500" y="539750"/>
                </a:cubicBezTo>
                <a:cubicBezTo>
                  <a:pt x="391930" y="539750"/>
                  <a:pt x="349250" y="497070"/>
                  <a:pt x="349250" y="444500"/>
                </a:cubicBezTo>
                <a:cubicBezTo>
                  <a:pt x="349250" y="391930"/>
                  <a:pt x="391930" y="349250"/>
                  <a:pt x="444500" y="349250"/>
                </a:cubicBezTo>
                <a:close/>
                <a:moveTo>
                  <a:pt x="730250" y="444500"/>
                </a:moveTo>
                <a:cubicBezTo>
                  <a:pt x="730250" y="391930"/>
                  <a:pt x="772930" y="349250"/>
                  <a:pt x="825500" y="349250"/>
                </a:cubicBezTo>
                <a:cubicBezTo>
                  <a:pt x="878070" y="349250"/>
                  <a:pt x="920750" y="391930"/>
                  <a:pt x="920750" y="444500"/>
                </a:cubicBezTo>
                <a:cubicBezTo>
                  <a:pt x="920750" y="497070"/>
                  <a:pt x="878070" y="539750"/>
                  <a:pt x="825500" y="539750"/>
                </a:cubicBezTo>
                <a:cubicBezTo>
                  <a:pt x="772930" y="539750"/>
                  <a:pt x="730250" y="497070"/>
                  <a:pt x="730250" y="444500"/>
                </a:cubicBezTo>
                <a:close/>
                <a:moveTo>
                  <a:pt x="127000" y="444500"/>
                </a:moveTo>
                <a:cubicBezTo>
                  <a:pt x="127000" y="409377"/>
                  <a:pt x="98623" y="381000"/>
                  <a:pt x="63500" y="381000"/>
                </a:cubicBezTo>
                <a:cubicBezTo>
                  <a:pt x="28377" y="381000"/>
                  <a:pt x="0" y="409377"/>
                  <a:pt x="0" y="444500"/>
                </a:cubicBezTo>
                <a:lnTo>
                  <a:pt x="0" y="635000"/>
                </a:lnTo>
                <a:cubicBezTo>
                  <a:pt x="0" y="670123"/>
                  <a:pt x="28377" y="698500"/>
                  <a:pt x="63500" y="698500"/>
                </a:cubicBezTo>
                <a:cubicBezTo>
                  <a:pt x="98623" y="698500"/>
                  <a:pt x="127000" y="670123"/>
                  <a:pt x="127000" y="635000"/>
                </a:cubicBezTo>
                <a:lnTo>
                  <a:pt x="127000" y="444500"/>
                </a:lnTo>
                <a:close/>
                <a:moveTo>
                  <a:pt x="1206500" y="381000"/>
                </a:moveTo>
                <a:cubicBezTo>
                  <a:pt x="1171377" y="381000"/>
                  <a:pt x="1143000" y="409377"/>
                  <a:pt x="1143000" y="444500"/>
                </a:cubicBezTo>
                <a:lnTo>
                  <a:pt x="1143000" y="635000"/>
                </a:lnTo>
                <a:cubicBezTo>
                  <a:pt x="1143000" y="670123"/>
                  <a:pt x="1171377" y="698500"/>
                  <a:pt x="1206500" y="698500"/>
                </a:cubicBezTo>
                <a:cubicBezTo>
                  <a:pt x="1241623" y="698500"/>
                  <a:pt x="1270000" y="670123"/>
                  <a:pt x="1270000" y="635000"/>
                </a:cubicBezTo>
                <a:lnTo>
                  <a:pt x="1270000" y="444500"/>
                </a:lnTo>
                <a:cubicBezTo>
                  <a:pt x="1270000" y="409377"/>
                  <a:pt x="1241623" y="381000"/>
                  <a:pt x="1206500" y="381000"/>
                </a:cubicBezTo>
                <a:close/>
              </a:path>
            </a:pathLst>
          </a:custGeom>
          <a:solidFill>
            <a:srgbClr val="FFFFFF">
              <a:alpha val="8235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90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Logistic Regression — Resultats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9000" y="1333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0.808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" y="1879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46500" y="1270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73500" y="1333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0.671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73500" y="1879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31000" y="1270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333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0.545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1879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15500" y="1270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42500" y="1333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42500" y="1879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0" y="1270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827000" y="1333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0.847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27000" y="1879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ROC-AUC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40000"/>
          <a:ext cx="6985000" cy="2540000"/>
        </p:xfrm>
        <a:graphic>
          <a:graphicData uri="http://schemas.openxmlformats.org/drawingml/2006/table">
            <a:tbl>
              <a:tblPr/>
              <a:tblGrid>
                <a:gridCol w="1746250"/>
                <a:gridCol w="1327150"/>
                <a:gridCol w="1327150"/>
                <a:gridCol w="1327150"/>
                <a:gridCol w="12573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F1-Score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Support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 (Fidele)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1 035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(Churn)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374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1 409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" name="Image 0" descr="https://kimi-img.moonshot.cn/pub/slides/okc/aq4rucumwnxo4/mnt/agents/output/pdf1_pages/page_7.png"/>
          <p:cNvPicPr>
            <a:picLocks noChangeAspect="1"/>
          </p:cNvPicPr>
          <p:nvPr/>
        </p:nvPicPr>
        <p:blipFill>
          <a:blip r:embed="rId3"/>
          <a:srcRect l="5000" t="2000" r="5000" b="2000"/>
          <a:stretch/>
        </p:blipFill>
        <p:spPr>
          <a:xfrm>
            <a:off x="8001000" y="2540000"/>
            <a:ext cx="7493000" cy="3937000"/>
          </a:xfrm>
          <a:prstGeom prst="roundRect">
            <a:avLst>
              <a:gd name="adj" fmla="val 4000"/>
            </a:avLst>
          </a:prstGeom>
        </p:spPr>
      </p:pic>
      <p:sp>
        <p:nvSpPr>
          <p:cNvPr id="26" name="Text 22"/>
          <p:cNvSpPr/>
          <p:nvPr/>
        </p:nvSpPr>
        <p:spPr>
          <a:xfrm>
            <a:off x="8001000" y="6540500"/>
            <a:ext cx="749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Matrice de confusion — Logistic Regression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62000" y="5334000"/>
            <a:ext cx="6985000" cy="1460500"/>
          </a:xfrm>
          <a:prstGeom prst="roundRect">
            <a:avLst>
              <a:gd name="adj" fmla="val 6000"/>
            </a:avLst>
          </a:prstGeom>
          <a:solidFill>
            <a:srgbClr val="0F4C5C">
              <a:alpha val="5098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1016000" y="54610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 :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 regression logistique montre un bon equilibre global. Le recall de 0.55 sur la classe churn indique que </a:t>
            </a: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45% des churns ne sont pas detectes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(faux negatifs = 170 cas).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90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Random Forest — Feature Importance</a:t>
            </a:r>
            <a:endParaRPr lang="en-US" sz="2800" dirty="0"/>
          </a:p>
        </p:txBody>
      </p:sp>
      <p:pic>
        <p:nvPicPr>
          <p:cNvPr id="9" name="Image 0" descr="https://kimi-img.moonshot.cn/pub/slides/okc/aq4rucumwnxo4/mnt/agents/output/pdf1_pages/page_9.png"/>
          <p:cNvPicPr>
            <a:picLocks noChangeAspect="1"/>
          </p:cNvPicPr>
          <p:nvPr/>
        </p:nvPicPr>
        <p:blipFill>
          <a:blip r:embed="rId3"/>
          <a:srcRect l="5000" t="2000" r="5000" b="2000"/>
          <a:stretch/>
        </p:blipFill>
        <p:spPr>
          <a:xfrm>
            <a:off x="762000" y="1270000"/>
            <a:ext cx="8890000" cy="6731000"/>
          </a:xfrm>
          <a:prstGeom prst="roundRect">
            <a:avLst>
              <a:gd name="adj" fmla="val 400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9906000" y="1270000"/>
            <a:ext cx="5588000" cy="673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223500" y="1460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10 Features Importantes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223500" y="1879600"/>
            <a:ext cx="4953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10223500" y="2032000"/>
            <a:ext cx="4953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tenure </a:t>
            </a: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 anciennete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TotalCharges </a:t>
            </a: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 charges totales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AverageMonthlyCost </a:t>
            </a: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 cout moyen (feature eng.)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MonthlyCharges </a:t>
            </a: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 charges mensuelles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InternetService_Fiber optic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PaymentMethod_Electronic check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Contract_Two year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Contract_One year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OnlineSecurity_Yes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TechSupport_Yes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223500" y="6477000"/>
            <a:ext cx="495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Hyperparametres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223500" y="683260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n_estimators = 300 | max_depth = 10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random_state = 42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GridSearch best score: </a:t>
            </a:r>
            <a:r>
              <a:rPr lang="en-US" sz="1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0.843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90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Courbes ROC Comparatives</a:t>
            </a:r>
            <a:endParaRPr lang="en-US" sz="2800" dirty="0"/>
          </a:p>
        </p:txBody>
      </p:sp>
      <p:pic>
        <p:nvPicPr>
          <p:cNvPr id="9" name="Image 0" descr="https://kimi-img.moonshot.cn/pub/slides/okc/aq4rucumwnxo4/mnt/agents/output/pdf1_pages/page_11.png"/>
          <p:cNvPicPr>
            <a:picLocks noChangeAspect="1"/>
          </p:cNvPicPr>
          <p:nvPr/>
        </p:nvPicPr>
        <p:blipFill>
          <a:blip r:embed="rId3"/>
          <a:srcRect l="5000" t="2000" r="5000" b="2000"/>
          <a:stretch/>
        </p:blipFill>
        <p:spPr>
          <a:xfrm>
            <a:off x="762000" y="1270000"/>
            <a:ext cx="9525000" cy="6858000"/>
          </a:xfrm>
          <a:prstGeom prst="roundRect">
            <a:avLst>
              <a:gd name="adj" fmla="val 4000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10668000" y="13970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 par modele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668000" y="1905000"/>
            <a:ext cx="482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668000" y="1905000"/>
            <a:ext cx="76200" cy="1143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3" name="Text 10"/>
          <p:cNvSpPr/>
          <p:nvPr/>
        </p:nvSpPr>
        <p:spPr>
          <a:xfrm>
            <a:off x="10922000" y="2006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22000" y="23876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0.85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668000" y="3238500"/>
            <a:ext cx="482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668000" y="3238500"/>
            <a:ext cx="76200" cy="1143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7" name="Text 14"/>
          <p:cNvSpPr/>
          <p:nvPr/>
        </p:nvSpPr>
        <p:spPr>
          <a:xfrm>
            <a:off x="10922000" y="33401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22000" y="37211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0.84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668000" y="4572000"/>
            <a:ext cx="482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668000" y="4572000"/>
            <a:ext cx="76200" cy="1143000"/>
          </a:xfrm>
          <a:prstGeom prst="rect">
            <a:avLst/>
          </a:prstGeom>
          <a:solidFill>
            <a:srgbClr val="5F0F40"/>
          </a:solidFill>
          <a:ln/>
        </p:spPr>
      </p:sp>
      <p:sp>
        <p:nvSpPr>
          <p:cNvPr id="21" name="Text 18"/>
          <p:cNvSpPr/>
          <p:nvPr/>
        </p:nvSpPr>
        <p:spPr>
          <a:xfrm>
            <a:off x="10922000" y="4673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922000" y="50546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5F0F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0.84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668000" y="5969000"/>
            <a:ext cx="4826000" cy="2159000"/>
          </a:xfrm>
          <a:prstGeom prst="roundRect">
            <a:avLst>
              <a:gd name="adj" fmla="val 6000"/>
            </a:avLst>
          </a:prstGeom>
          <a:solidFill>
            <a:srgbClr val="0F4C5C">
              <a:alpha val="5098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0922000" y="6121400"/>
            <a:ext cx="4318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3 modeles ont des performances ROC tres similaires. La regression logistique a un leger avantage en AUC.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Tous les modeles sont </a:t>
            </a: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nettement meilleurs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qu'un classifieur aleatoire (AUC = 0.5).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90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Comparaison des Modeles ML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3302000"/>
        </p:xfrm>
        <a:graphic>
          <a:graphicData uri="http://schemas.openxmlformats.org/drawingml/2006/table">
            <a:tbl>
              <a:tblPr/>
              <a:tblGrid>
                <a:gridCol w="3241040"/>
                <a:gridCol w="2357120"/>
                <a:gridCol w="2357120"/>
                <a:gridCol w="2357120"/>
                <a:gridCol w="2357120"/>
                <a:gridCol w="2062480"/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F1-Score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ROC-AUC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Logistic Regression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0.808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0.671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0.545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Random Forest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0.661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0.511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0.576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XGBoost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0.794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0.642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0.508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0.567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0.837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/>
          <p:cNvGraphicFramePr/>
          <p:nvPr/>
        </p:nvGraphicFramePr>
        <p:xfrm>
          <a:off x="762000" y="4953000"/>
          <a:ext cx="7366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/>
          <p:cNvSpPr/>
          <p:nvPr/>
        </p:nvSpPr>
        <p:spPr>
          <a:xfrm>
            <a:off x="8382000" y="4953000"/>
            <a:ext cx="7112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763000" y="5207000"/>
            <a:ext cx="1778000" cy="381000"/>
          </a:xfrm>
          <a:prstGeom prst="roundRect">
            <a:avLst>
              <a:gd name="adj" fmla="val 12000"/>
            </a:avLst>
          </a:prstGeom>
          <a:solidFill>
            <a:srgbClr val="E07A5F"/>
          </a:solidFill>
          <a:ln/>
        </p:spPr>
      </p:sp>
      <p:sp>
        <p:nvSpPr>
          <p:cNvPr id="13" name="Text 9"/>
          <p:cNvSpPr/>
          <p:nvPr/>
        </p:nvSpPr>
        <p:spPr>
          <a:xfrm>
            <a:off x="8763000" y="5207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MEILLEUR MODELE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763000" y="5778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763000" y="64135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Haute AUC (0.847)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meilleure discrimination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Precision elevee (0.671)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moins de faux positifs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Interpretable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coefficients explicables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Rapide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entrainement et inference rapides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95000" y="1270000"/>
            <a:ext cx="5461000" cy="5461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3302000"/>
            <a:ext cx="1016000" cy="76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4699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&amp; Comparaison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Reseau de neurones artificiels (ANN) vs Modeles classiques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393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38125" y="111125"/>
                </a:moveTo>
                <a:cubicBezTo>
                  <a:pt x="238125" y="49808"/>
                  <a:pt x="287933" y="0"/>
                  <a:pt x="349250" y="0"/>
                </a:cubicBezTo>
                <a:lnTo>
                  <a:pt x="396875" y="0"/>
                </a:lnTo>
                <a:cubicBezTo>
                  <a:pt x="431998" y="0"/>
                  <a:pt x="460375" y="28377"/>
                  <a:pt x="460375" y="63500"/>
                </a:cubicBezTo>
                <a:lnTo>
                  <a:pt x="460375" y="952500"/>
                </a:lnTo>
                <a:cubicBezTo>
                  <a:pt x="460375" y="987623"/>
                  <a:pt x="431998" y="1016000"/>
                  <a:pt x="396875" y="1016000"/>
                </a:cubicBezTo>
                <a:lnTo>
                  <a:pt x="333375" y="1016000"/>
                </a:lnTo>
                <a:cubicBezTo>
                  <a:pt x="274241" y="1016000"/>
                  <a:pt x="224433" y="975519"/>
                  <a:pt x="210344" y="920750"/>
                </a:cubicBezTo>
                <a:cubicBezTo>
                  <a:pt x="208955" y="920750"/>
                  <a:pt x="207764" y="920750"/>
                  <a:pt x="206375" y="920750"/>
                </a:cubicBezTo>
                <a:cubicBezTo>
                  <a:pt x="118666" y="920750"/>
                  <a:pt x="47625" y="849709"/>
                  <a:pt x="47625" y="762000"/>
                </a:cubicBezTo>
                <a:cubicBezTo>
                  <a:pt x="47625" y="726281"/>
                  <a:pt x="59531" y="693341"/>
                  <a:pt x="79375" y="666750"/>
                </a:cubicBezTo>
                <a:cubicBezTo>
                  <a:pt x="40878" y="637778"/>
                  <a:pt x="15875" y="591741"/>
                  <a:pt x="15875" y="539750"/>
                </a:cubicBezTo>
                <a:cubicBezTo>
                  <a:pt x="15875" y="478433"/>
                  <a:pt x="50800" y="425053"/>
                  <a:pt x="101600" y="398661"/>
                </a:cubicBezTo>
                <a:cubicBezTo>
                  <a:pt x="87511" y="374848"/>
                  <a:pt x="79375" y="347067"/>
                  <a:pt x="79375" y="317500"/>
                </a:cubicBezTo>
                <a:cubicBezTo>
                  <a:pt x="79375" y="229791"/>
                  <a:pt x="150416" y="158750"/>
                  <a:pt x="238125" y="158750"/>
                </a:cubicBezTo>
                <a:lnTo>
                  <a:pt x="238125" y="111125"/>
                </a:lnTo>
                <a:close/>
                <a:moveTo>
                  <a:pt x="777875" y="111125"/>
                </a:moveTo>
                <a:lnTo>
                  <a:pt x="777875" y="158750"/>
                </a:lnTo>
                <a:cubicBezTo>
                  <a:pt x="865584" y="158750"/>
                  <a:pt x="936625" y="229791"/>
                  <a:pt x="936625" y="317500"/>
                </a:cubicBezTo>
                <a:cubicBezTo>
                  <a:pt x="936625" y="347266"/>
                  <a:pt x="928489" y="375047"/>
                  <a:pt x="914400" y="398661"/>
                </a:cubicBezTo>
                <a:cubicBezTo>
                  <a:pt x="965398" y="425053"/>
                  <a:pt x="1000125" y="478234"/>
                  <a:pt x="1000125" y="539750"/>
                </a:cubicBezTo>
                <a:cubicBezTo>
                  <a:pt x="1000125" y="591741"/>
                  <a:pt x="975122" y="637778"/>
                  <a:pt x="936625" y="666750"/>
                </a:cubicBezTo>
                <a:cubicBezTo>
                  <a:pt x="956469" y="693341"/>
                  <a:pt x="968375" y="726281"/>
                  <a:pt x="968375" y="762000"/>
                </a:cubicBezTo>
                <a:cubicBezTo>
                  <a:pt x="968375" y="849709"/>
                  <a:pt x="897334" y="920750"/>
                  <a:pt x="809625" y="920750"/>
                </a:cubicBezTo>
                <a:cubicBezTo>
                  <a:pt x="808236" y="920750"/>
                  <a:pt x="807045" y="920750"/>
                  <a:pt x="805656" y="920750"/>
                </a:cubicBezTo>
                <a:cubicBezTo>
                  <a:pt x="791567" y="975519"/>
                  <a:pt x="741759" y="1016000"/>
                  <a:pt x="682625" y="1016000"/>
                </a:cubicBezTo>
                <a:lnTo>
                  <a:pt x="619125" y="1016000"/>
                </a:lnTo>
                <a:cubicBezTo>
                  <a:pt x="584002" y="1016000"/>
                  <a:pt x="555625" y="987623"/>
                  <a:pt x="555625" y="952500"/>
                </a:cubicBezTo>
                <a:lnTo>
                  <a:pt x="555625" y="63500"/>
                </a:lnTo>
                <a:cubicBezTo>
                  <a:pt x="555625" y="28377"/>
                  <a:pt x="584002" y="0"/>
                  <a:pt x="619125" y="0"/>
                </a:cubicBezTo>
                <a:lnTo>
                  <a:pt x="666750" y="0"/>
                </a:lnTo>
                <a:cubicBezTo>
                  <a:pt x="728067" y="0"/>
                  <a:pt x="777875" y="49808"/>
                  <a:pt x="777875" y="111125"/>
                </a:cubicBezTo>
                <a:close/>
              </a:path>
            </a:pathLst>
          </a:custGeom>
          <a:solidFill>
            <a:srgbClr val="FFFFFF">
              <a:alpha val="8235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954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ANN &amp; Courbes d'Apprentissage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333500"/>
            <a:ext cx="4826000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16000" y="14605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du Reseau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1841500"/>
            <a:ext cx="4318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524000" y="20955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2095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64 — ReLU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(input: 32)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4000" y="27940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 0.3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24000" y="31750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1A6B7D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3175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32 — ReLU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38735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 0.3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24000" y="42545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2A8FA8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4254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16 — ReLU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524000" y="53340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1524000" y="5334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1 — Sigmoid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11500" y="4953000"/>
            <a:ext cx="0" cy="3175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016000" y="6223000"/>
            <a:ext cx="4318000" cy="1778000"/>
          </a:xfrm>
          <a:prstGeom prst="roundRect">
            <a:avLst>
              <a:gd name="adj" fmla="val 6000"/>
            </a:avLst>
          </a:prstGeom>
          <a:solidFill>
            <a:srgbClr val="0F4C5C">
              <a:alpha val="5098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70000" y="6350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params :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4,737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Optimizer :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: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Binary Crossentropy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Stopping :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patience=10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Epochs :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31 (early stop)</a:t>
            </a:r>
            <a:endParaRPr lang="en-US" sz="1600" dirty="0"/>
          </a:p>
        </p:txBody>
      </p:sp>
      <p:pic>
        <p:nvPicPr>
          <p:cNvPr id="25" name="Image 0" descr="https://kimi-img.moonshot.cn/pub/slides/okc/aq4rucumwnxo4/mnt/agents/output/pdf1_pages/page_16.png"/>
          <p:cNvPicPr>
            <a:picLocks noChangeAspect="1"/>
          </p:cNvPicPr>
          <p:nvPr/>
        </p:nvPicPr>
        <p:blipFill>
          <a:blip r:embed="rId3"/>
          <a:srcRect l="5000" t="50000" r="5000" b="2000"/>
          <a:stretch/>
        </p:blipFill>
        <p:spPr>
          <a:xfrm>
            <a:off x="5842000" y="1333500"/>
            <a:ext cx="4826000" cy="3365500"/>
          </a:xfrm>
          <a:prstGeom prst="roundRect">
            <a:avLst>
              <a:gd name="adj" fmla="val 4000"/>
            </a:avLst>
          </a:prstGeom>
        </p:spPr>
      </p:pic>
      <p:sp>
        <p:nvSpPr>
          <p:cNvPr id="26" name="Text 23"/>
          <p:cNvSpPr/>
          <p:nvPr/>
        </p:nvSpPr>
        <p:spPr>
          <a:xfrm>
            <a:off x="5842000" y="4762500"/>
            <a:ext cx="482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Courbe de perte (Loss)</a:t>
            </a:r>
            <a:endParaRPr lang="en-US" sz="1600" dirty="0"/>
          </a:p>
        </p:txBody>
      </p:sp>
      <p:pic>
        <p:nvPicPr>
          <p:cNvPr id="27" name="Image 1" descr="https://kimi-img.moonshot.cn/pub/slides/okc/aq4rucumwnxo4/mnt/agents/output/pdf1_pages/page_16.png"/>
          <p:cNvPicPr>
            <a:picLocks noChangeAspect="1"/>
          </p:cNvPicPr>
          <p:nvPr/>
        </p:nvPicPr>
        <p:blipFill>
          <a:blip r:embed="rId3"/>
          <a:srcRect l="5000" t="2000" r="5000" b="50000"/>
          <a:stretch/>
        </p:blipFill>
        <p:spPr>
          <a:xfrm>
            <a:off x="10858500" y="1333500"/>
            <a:ext cx="4635500" cy="3365500"/>
          </a:xfrm>
          <a:prstGeom prst="roundRect">
            <a:avLst>
              <a:gd name="adj" fmla="val 4000"/>
            </a:avLst>
          </a:prstGeom>
        </p:spPr>
      </p:pic>
      <p:sp>
        <p:nvSpPr>
          <p:cNvPr id="28" name="Text 24"/>
          <p:cNvSpPr/>
          <p:nvPr/>
        </p:nvSpPr>
        <p:spPr>
          <a:xfrm>
            <a:off x="10858500" y="4762500"/>
            <a:ext cx="463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Courbe d'accuracy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5842000" y="5207000"/>
            <a:ext cx="9652000" cy="298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6159500" y="539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Performances ANN (Test)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159500" y="58420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0.791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064500" y="58420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0.636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9969500" y="58420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0.495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1874500" y="58420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0.556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3716000" y="584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ROC-AUC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0.838</a:t>
            </a:r>
            <a:endParaRPr lang="en-US" sz="1600" dirty="0"/>
          </a:p>
        </p:txBody>
      </p:sp>
      <p:pic>
        <p:nvPicPr>
          <p:cNvPr id="36" name="Image 2" descr="https://kimi-img.moonshot.cn/pub/slides/okc/aq4rucumwnxo4/mnt/agents/output/pdf1_pages/page_18.png"/>
          <p:cNvPicPr>
            <a:picLocks noChangeAspect="1"/>
          </p:cNvPicPr>
          <p:nvPr/>
        </p:nvPicPr>
        <p:blipFill>
          <a:blip r:embed="rId4"/>
          <a:srcRect l="5000" t="35000" r="5000" b="2000"/>
          <a:stretch/>
        </p:blipFill>
        <p:spPr>
          <a:xfrm>
            <a:off x="6159500" y="6731000"/>
            <a:ext cx="9017000" cy="1270000"/>
          </a:xfrm>
          <a:prstGeom prst="roundRect">
            <a:avLst>
              <a:gd name="adj" fmla="val 4000"/>
            </a:avLst>
          </a:prstGeom>
        </p:spPr>
      </p:pic>
      <p:sp>
        <p:nvSpPr>
          <p:cNvPr id="37" name="Text 32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Exploration des Donnees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Preprocessing &amp;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Modeles 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Deep Learning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954000" y="4572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Comparaison Finale ML vs DL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3175000"/>
        </p:xfrm>
        <a:graphic>
          <a:graphicData uri="http://schemas.openxmlformats.org/drawingml/2006/table">
            <a:tbl>
              <a:tblPr/>
              <a:tblGrid>
                <a:gridCol w="2946400"/>
                <a:gridCol w="2062480"/>
                <a:gridCol w="2062480"/>
                <a:gridCol w="2062480"/>
                <a:gridCol w="2062480"/>
                <a:gridCol w="2062480"/>
                <a:gridCol w="14732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ROC-AUC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Logistic Reg.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0.808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0.671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0.545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🥇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Random Forest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0.661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0.511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0.576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🥈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ANN (DL)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0.791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0.636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0.495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0.556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0.838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🥉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XGBoost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0.794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0.642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0.508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0.567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0.837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/>
          <p:cNvGraphicFramePr/>
          <p:nvPr/>
        </p:nvGraphicFramePr>
        <p:xfrm>
          <a:off x="762000" y="4762500"/>
          <a:ext cx="6096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/>
          <p:cNvSpPr/>
          <p:nvPr/>
        </p:nvSpPr>
        <p:spPr>
          <a:xfrm>
            <a:off x="7112000" y="4762500"/>
            <a:ext cx="8382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429500" y="4953000"/>
            <a:ext cx="774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Comparative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29500" y="5397500"/>
            <a:ext cx="774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Logistic Regression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domine sur toutes les metriques avec la meilleure AUC (0.847).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Random Forest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deuxieme, excellente importance des features interpretable.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ANN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atteint des performances comparables malgre une architecture simple (4,737 params).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XGBoost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legerement en retrait sur ce dataset specifique.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modele le plus simple (LR) est aussi le plus performant — un rappel important en ML.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gradFill flip="none" rotWithShape="1">
          <a:gsLst>
            <a:gs pos="0">
              <a:srgbClr val="0F4C5C"/>
            </a:gs>
            <a:gs pos="60000">
              <a:srgbClr val="1A6B7D"/>
            </a:gs>
            <a:gs pos="100000">
              <a:srgbClr val="2A8FA8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445000"/>
            <a:ext cx="4445000" cy="4445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1968500"/>
            <a:ext cx="1016000" cy="508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22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31750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240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2032000" y="3302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 retenu :</a:t>
            </a: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Logistic Regression avec ROC-AUC = 0.847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0" y="31750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94450" y="3429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61119" y="44450"/>
                </a:moveTo>
                <a:cubicBezTo>
                  <a:pt x="51881" y="44450"/>
                  <a:pt x="44450" y="51881"/>
                  <a:pt x="44450" y="61119"/>
                </a:cubicBezTo>
                <a:cubicBezTo>
                  <a:pt x="44450" y="70356"/>
                  <a:pt x="51881" y="77788"/>
                  <a:pt x="61119" y="77788"/>
                </a:cubicBezTo>
                <a:lnTo>
                  <a:pt x="94456" y="77788"/>
                </a:lnTo>
                <a:cubicBezTo>
                  <a:pt x="103694" y="77788"/>
                  <a:pt x="111125" y="70356"/>
                  <a:pt x="111125" y="61119"/>
                </a:cubicBezTo>
                <a:cubicBezTo>
                  <a:pt x="111125" y="51881"/>
                  <a:pt x="103694" y="44450"/>
                  <a:pt x="94456" y="44450"/>
                </a:cubicBezTo>
                <a:lnTo>
                  <a:pt x="61119" y="44450"/>
                </a:lnTo>
                <a:close/>
                <a:moveTo>
                  <a:pt x="61119" y="111125"/>
                </a:moveTo>
                <a:cubicBezTo>
                  <a:pt x="51881" y="111125"/>
                  <a:pt x="44450" y="118556"/>
                  <a:pt x="44450" y="127794"/>
                </a:cubicBezTo>
                <a:cubicBezTo>
                  <a:pt x="44450" y="137031"/>
                  <a:pt x="51881" y="144463"/>
                  <a:pt x="61119" y="144463"/>
                </a:cubicBezTo>
                <a:lnTo>
                  <a:pt x="94456" y="144463"/>
                </a:lnTo>
                <a:cubicBezTo>
                  <a:pt x="103694" y="144463"/>
                  <a:pt x="111125" y="137031"/>
                  <a:pt x="111125" y="127794"/>
                </a:cubicBezTo>
                <a:cubicBezTo>
                  <a:pt x="111125" y="118556"/>
                  <a:pt x="103694" y="111125"/>
                  <a:pt x="94456" y="111125"/>
                </a:cubicBezTo>
                <a:lnTo>
                  <a:pt x="61119" y="111125"/>
                </a:lnTo>
                <a:close/>
                <a:moveTo>
                  <a:pt x="109944" y="222250"/>
                </a:moveTo>
                <a:cubicBezTo>
                  <a:pt x="102096" y="222250"/>
                  <a:pt x="94734" y="225792"/>
                  <a:pt x="89872" y="231904"/>
                </a:cubicBezTo>
                <a:lnTo>
                  <a:pt x="48131" y="284063"/>
                </a:lnTo>
                <a:cubicBezTo>
                  <a:pt x="42366" y="291217"/>
                  <a:pt x="43547" y="301774"/>
                  <a:pt x="50701" y="307469"/>
                </a:cubicBezTo>
                <a:cubicBezTo>
                  <a:pt x="57854" y="313164"/>
                  <a:pt x="68411" y="312053"/>
                  <a:pt x="74106" y="304830"/>
                </a:cubicBezTo>
                <a:lnTo>
                  <a:pt x="106819" y="263991"/>
                </a:lnTo>
                <a:lnTo>
                  <a:pt x="117376" y="299204"/>
                </a:lnTo>
                <a:cubicBezTo>
                  <a:pt x="119459" y="306288"/>
                  <a:pt x="125988" y="311081"/>
                  <a:pt x="133350" y="311081"/>
                </a:cubicBezTo>
                <a:lnTo>
                  <a:pt x="205581" y="311081"/>
                </a:lnTo>
                <a:cubicBezTo>
                  <a:pt x="214819" y="311081"/>
                  <a:pt x="222250" y="303649"/>
                  <a:pt x="222250" y="294412"/>
                </a:cubicBezTo>
                <a:cubicBezTo>
                  <a:pt x="222250" y="285175"/>
                  <a:pt x="214819" y="277743"/>
                  <a:pt x="205581" y="277743"/>
                </a:cubicBezTo>
                <a:lnTo>
                  <a:pt x="145782" y="277743"/>
                </a:lnTo>
                <a:lnTo>
                  <a:pt x="134600" y="240516"/>
                </a:lnTo>
                <a:cubicBezTo>
                  <a:pt x="131336" y="229612"/>
                  <a:pt x="121335" y="222181"/>
                  <a:pt x="109944" y="22218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302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Facteur cle :</a:t>
            </a: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Contrats month-to-month = churn maximal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46990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40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032000" y="4826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Anciennete :</a:t>
            </a: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Clients &lt; 10 mois sont les plus a risque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0" y="46990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16675" y="4953000"/>
            <a:ext cx="222250" cy="355600"/>
          </a:xfrm>
          <a:custGeom>
            <a:avLst/>
            <a:gdLst/>
            <a:ahLst/>
            <a:cxnLst/>
            <a:rect l="l" t="t" r="r" b="b"/>
            <a:pathLst>
              <a:path w="222250" h="355600">
                <a:moveTo>
                  <a:pt x="94456" y="16669"/>
                </a:moveTo>
                <a:cubicBezTo>
                  <a:pt x="94456" y="7431"/>
                  <a:pt x="101888" y="0"/>
                  <a:pt x="111125" y="0"/>
                </a:cubicBezTo>
                <a:cubicBezTo>
                  <a:pt x="120362" y="0"/>
                  <a:pt x="127794" y="7431"/>
                  <a:pt x="127794" y="16669"/>
                </a:cubicBezTo>
                <a:lnTo>
                  <a:pt x="127794" y="44450"/>
                </a:lnTo>
                <a:lnTo>
                  <a:pt x="166688" y="44450"/>
                </a:lnTo>
                <a:cubicBezTo>
                  <a:pt x="178981" y="44450"/>
                  <a:pt x="188913" y="54382"/>
                  <a:pt x="188913" y="66675"/>
                </a:cubicBezTo>
                <a:cubicBezTo>
                  <a:pt x="188913" y="78968"/>
                  <a:pt x="178981" y="88900"/>
                  <a:pt x="166688" y="88900"/>
                </a:cubicBezTo>
                <a:lnTo>
                  <a:pt x="86886" y="88900"/>
                </a:lnTo>
                <a:cubicBezTo>
                  <a:pt x="69592" y="88900"/>
                  <a:pt x="55563" y="102930"/>
                  <a:pt x="55563" y="120223"/>
                </a:cubicBezTo>
                <a:cubicBezTo>
                  <a:pt x="55563" y="135850"/>
                  <a:pt x="67022" y="149046"/>
                  <a:pt x="82441" y="151269"/>
                </a:cubicBezTo>
                <a:lnTo>
                  <a:pt x="146060" y="160367"/>
                </a:lnTo>
                <a:cubicBezTo>
                  <a:pt x="183426" y="165715"/>
                  <a:pt x="211138" y="197664"/>
                  <a:pt x="211138" y="235377"/>
                </a:cubicBezTo>
                <a:cubicBezTo>
                  <a:pt x="211138" y="277257"/>
                  <a:pt x="177175" y="311150"/>
                  <a:pt x="135364" y="311150"/>
                </a:cubicBezTo>
                <a:lnTo>
                  <a:pt x="127794" y="311150"/>
                </a:lnTo>
                <a:lnTo>
                  <a:pt x="127794" y="338931"/>
                </a:lnTo>
                <a:cubicBezTo>
                  <a:pt x="127794" y="348169"/>
                  <a:pt x="120362" y="355600"/>
                  <a:pt x="111125" y="355600"/>
                </a:cubicBezTo>
                <a:cubicBezTo>
                  <a:pt x="101888" y="355600"/>
                  <a:pt x="94456" y="348169"/>
                  <a:pt x="94456" y="338931"/>
                </a:cubicBezTo>
                <a:lnTo>
                  <a:pt x="94456" y="311150"/>
                </a:lnTo>
                <a:lnTo>
                  <a:pt x="44450" y="311150"/>
                </a:lnTo>
                <a:cubicBezTo>
                  <a:pt x="32157" y="311150"/>
                  <a:pt x="22225" y="301218"/>
                  <a:pt x="22225" y="288925"/>
                </a:cubicBezTo>
                <a:cubicBezTo>
                  <a:pt x="22225" y="276632"/>
                  <a:pt x="32157" y="266700"/>
                  <a:pt x="44450" y="266700"/>
                </a:cubicBezTo>
                <a:lnTo>
                  <a:pt x="135364" y="266700"/>
                </a:lnTo>
                <a:cubicBezTo>
                  <a:pt x="152658" y="266700"/>
                  <a:pt x="166688" y="252670"/>
                  <a:pt x="166688" y="235377"/>
                </a:cubicBezTo>
                <a:cubicBezTo>
                  <a:pt x="166688" y="219750"/>
                  <a:pt x="155228" y="206554"/>
                  <a:pt x="139809" y="204331"/>
                </a:cubicBezTo>
                <a:lnTo>
                  <a:pt x="76190" y="195233"/>
                </a:lnTo>
                <a:cubicBezTo>
                  <a:pt x="38824" y="189954"/>
                  <a:pt x="11112" y="157936"/>
                  <a:pt x="11112" y="120223"/>
                </a:cubicBezTo>
                <a:cubicBezTo>
                  <a:pt x="11112" y="78413"/>
                  <a:pt x="45075" y="44450"/>
                  <a:pt x="86886" y="44450"/>
                </a:cubicBezTo>
                <a:lnTo>
                  <a:pt x="94456" y="44450"/>
                </a:lnTo>
                <a:lnTo>
                  <a:pt x="94456" y="1666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4826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Charges :</a:t>
            </a: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Plus les charges sont elevees, plus le risque de churn augmente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" y="6350000"/>
            <a:ext cx="9398000" cy="0"/>
          </a:xfrm>
          <a:prstGeom prst="straightConnector1">
            <a:avLst/>
          </a:prstGeom>
          <a:noFill/>
          <a:ln w="12700">
            <a:solidFill>
              <a:srgbClr val="FFFFFF">
                <a:alpha val="13333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270000" y="6604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7 043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" y="71374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Clients analyses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83000" y="6604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83000" y="71374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Modeles testes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0" y="6604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0.847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0" y="71374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Meilleur ROC-AUC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6604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26.5%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9000" y="71374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Taux de churn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70000" y="7874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Merci pour votre attention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1932</Words>
  <Application>Microsoft Office PowerPoint</Application>
  <PresentationFormat>Personnalisé</PresentationFormat>
  <Paragraphs>453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Quattrocento Sans</vt:lpstr>
      <vt:lpstr>Arial</vt:lpstr>
      <vt:lpstr>Calibri</vt:lpstr>
      <vt:lpstr>QuattrocentoSans</vt:lpstr>
      <vt:lpstr>Custom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- EDA &amp; Modelisation</dc:title>
  <dc:subject>Customer Churn Prediction - EDA &amp; Modelisation</dc:subject>
  <dc:creator>Kimi</dc:creator>
  <cp:lastModifiedBy>Dell</cp:lastModifiedBy>
  <cp:revision>3</cp:revision>
  <dcterms:created xsi:type="dcterms:W3CDTF">2026-06-22T17:18:18Z</dcterms:created>
  <dcterms:modified xsi:type="dcterms:W3CDTF">2026-06-22T17:35:42Z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{"Label":"Customer Churn Prediction - EDA &amp; Modelisation","ContentProducer":"001191110108MACG2KBH8F10000","ProduceID":"19eb69a4-fbd2-8735-8000-000069eca095","ReservedCode1":"","ContentPropagator":"001191110108MACG2KBH8F20000","PropagateID":"19eb69a4-fbd2-</vt:lpwstr>
  </property>
</Properties>
</file>